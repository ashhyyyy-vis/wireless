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Calibri" panose="020F0502020204030204" pitchFamily="34" charset="0"/>
      <p:regular r:id="rId24"/>
      <p:bold r:id="rId25"/>
      <p:italic r:id="rId26"/>
      <p:boldItalic r:id="rId27"/>
    </p:embeddedFont>
    <p:embeddedFont>
      <p:font typeface="Canva Sans Bold" panose="020B0604020202020204" charset="0"/>
      <p:regular r:id="rId28"/>
    </p:embeddedFont>
    <p:embeddedFont>
      <p:font typeface="Fredoka" panose="020B0604020202020204" charset="0"/>
      <p:regular r:id="rId29"/>
    </p:embeddedFont>
    <p:embeddedFont>
      <p:font typeface="Quicksand" panose="020B0604020202020204" charset="0"/>
      <p:regular r:id="rId30"/>
    </p:embeddedFont>
    <p:embeddedFont>
      <p:font typeface="Quicksand Bold" panose="020B0604020202020204" charset="0"/>
      <p:regular r:id="rId31"/>
    </p:embeddedFont>
    <p:embeddedFont>
      <p:font typeface="Varela Round" panose="020B0604020202020204" charset="-79"/>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80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arxiv.org/pdf/2007.12284v1" TargetMode="External"/><Relationship Id="rId2" Type="http://schemas.openxmlformats.org/officeDocument/2006/relationships/hyperlink" Target="https://ieeexplore.ieee.org/document/10306324/citations#citations"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829596" y="1028700"/>
            <a:ext cx="16230600" cy="47625"/>
            <a:chOff x="0" y="0"/>
            <a:chExt cx="4274726" cy="12543"/>
          </a:xfrm>
        </p:grpSpPr>
        <p:sp>
          <p:nvSpPr>
            <p:cNvPr id="3" name="Freeform 3"/>
            <p:cNvSpPr/>
            <p:nvPr/>
          </p:nvSpPr>
          <p:spPr>
            <a:xfrm>
              <a:off x="0" y="0"/>
              <a:ext cx="4274726" cy="12543"/>
            </a:xfrm>
            <a:custGeom>
              <a:avLst/>
              <a:gdLst/>
              <a:ahLst/>
              <a:cxnLst/>
              <a:rect l="l" t="t" r="r" b="b"/>
              <a:pathLst>
                <a:path w="4274726" h="12543">
                  <a:moveTo>
                    <a:pt x="0" y="0"/>
                  </a:moveTo>
                  <a:lnTo>
                    <a:pt x="4274726" y="0"/>
                  </a:lnTo>
                  <a:lnTo>
                    <a:pt x="4274726" y="12543"/>
                  </a:lnTo>
                  <a:lnTo>
                    <a:pt x="0" y="12543"/>
                  </a:lnTo>
                  <a:close/>
                </a:path>
              </a:pathLst>
            </a:custGeom>
            <a:solidFill>
              <a:srgbClr val="FFFFFF"/>
            </a:solidFill>
          </p:spPr>
        </p:sp>
        <p:sp>
          <p:nvSpPr>
            <p:cNvPr id="4" name="TextBox 4"/>
            <p:cNvSpPr txBox="1"/>
            <p:nvPr/>
          </p:nvSpPr>
          <p:spPr>
            <a:xfrm>
              <a:off x="0" y="-38100"/>
              <a:ext cx="4274726" cy="5064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745314" y="2478645"/>
            <a:ext cx="17626967" cy="2228237"/>
          </a:xfrm>
          <a:prstGeom prst="rect">
            <a:avLst/>
          </a:prstGeom>
        </p:spPr>
        <p:txBody>
          <a:bodyPr lIns="0" tIns="0" rIns="0" bIns="0" rtlCol="0" anchor="t">
            <a:spAutoFit/>
          </a:bodyPr>
          <a:lstStyle/>
          <a:p>
            <a:pPr algn="l">
              <a:lnSpc>
                <a:spcPts val="8600"/>
              </a:lnSpc>
            </a:pPr>
            <a:r>
              <a:rPr lang="en-US" sz="8600">
                <a:solidFill>
                  <a:srgbClr val="FFFFFF"/>
                </a:solidFill>
                <a:latin typeface="Fredoka"/>
                <a:ea typeface="Fredoka"/>
                <a:cs typeface="Fredoka"/>
                <a:sym typeface="Fredoka"/>
              </a:rPr>
              <a:t>WIRELESS </a:t>
            </a:r>
          </a:p>
          <a:p>
            <a:pPr algn="l">
              <a:lnSpc>
                <a:spcPts val="8600"/>
              </a:lnSpc>
            </a:pPr>
            <a:r>
              <a:rPr lang="en-US" sz="8600">
                <a:solidFill>
                  <a:srgbClr val="FFFFFF"/>
                </a:solidFill>
                <a:latin typeface="Fredoka"/>
                <a:ea typeface="Fredoka"/>
                <a:cs typeface="Fredoka"/>
                <a:sym typeface="Fredoka"/>
              </a:rPr>
              <a:t>COMMUNICATION</a:t>
            </a:r>
          </a:p>
        </p:txBody>
      </p:sp>
      <p:grpSp>
        <p:nvGrpSpPr>
          <p:cNvPr id="6" name="Group 6"/>
          <p:cNvGrpSpPr/>
          <p:nvPr/>
        </p:nvGrpSpPr>
        <p:grpSpPr>
          <a:xfrm>
            <a:off x="829596" y="8452822"/>
            <a:ext cx="16429704" cy="805478"/>
            <a:chOff x="0" y="0"/>
            <a:chExt cx="4327165" cy="212142"/>
          </a:xfrm>
        </p:grpSpPr>
        <p:sp>
          <p:nvSpPr>
            <p:cNvPr id="7" name="Freeform 7"/>
            <p:cNvSpPr/>
            <p:nvPr/>
          </p:nvSpPr>
          <p:spPr>
            <a:xfrm>
              <a:off x="0" y="0"/>
              <a:ext cx="4327165" cy="212142"/>
            </a:xfrm>
            <a:custGeom>
              <a:avLst/>
              <a:gdLst/>
              <a:ahLst/>
              <a:cxnLst/>
              <a:rect l="l" t="t" r="r" b="b"/>
              <a:pathLst>
                <a:path w="4327165" h="212142">
                  <a:moveTo>
                    <a:pt x="0" y="0"/>
                  </a:moveTo>
                  <a:lnTo>
                    <a:pt x="4327165" y="0"/>
                  </a:lnTo>
                  <a:lnTo>
                    <a:pt x="4327165" y="212142"/>
                  </a:lnTo>
                  <a:lnTo>
                    <a:pt x="0" y="212142"/>
                  </a:lnTo>
                  <a:close/>
                </a:path>
              </a:pathLst>
            </a:custGeom>
            <a:solidFill>
              <a:srgbClr val="FFFFFF"/>
            </a:solidFill>
          </p:spPr>
        </p:sp>
        <p:sp>
          <p:nvSpPr>
            <p:cNvPr id="8" name="TextBox 8"/>
            <p:cNvSpPr txBox="1"/>
            <p:nvPr/>
          </p:nvSpPr>
          <p:spPr>
            <a:xfrm>
              <a:off x="0" y="-38100"/>
              <a:ext cx="4327165" cy="250242"/>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rot="-2700000">
            <a:off x="10981344" y="-1477654"/>
            <a:ext cx="10707063" cy="8458580"/>
          </a:xfrm>
          <a:custGeom>
            <a:avLst/>
            <a:gdLst/>
            <a:ahLst/>
            <a:cxnLst/>
            <a:rect l="l" t="t" r="r" b="b"/>
            <a:pathLst>
              <a:path w="10707063" h="8458580">
                <a:moveTo>
                  <a:pt x="0" y="0"/>
                </a:moveTo>
                <a:lnTo>
                  <a:pt x="10707064" y="0"/>
                </a:lnTo>
                <a:lnTo>
                  <a:pt x="10707064" y="8458580"/>
                </a:lnTo>
                <a:lnTo>
                  <a:pt x="0" y="8458580"/>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919571" y="8594840"/>
            <a:ext cx="2607273" cy="521442"/>
            <a:chOff x="0" y="0"/>
            <a:chExt cx="686689" cy="137335"/>
          </a:xfrm>
        </p:grpSpPr>
        <p:sp>
          <p:nvSpPr>
            <p:cNvPr id="11" name="Freeform 11"/>
            <p:cNvSpPr/>
            <p:nvPr/>
          </p:nvSpPr>
          <p:spPr>
            <a:xfrm>
              <a:off x="0" y="0"/>
              <a:ext cx="686689" cy="137335"/>
            </a:xfrm>
            <a:custGeom>
              <a:avLst/>
              <a:gdLst/>
              <a:ahLst/>
              <a:cxnLst/>
              <a:rect l="l" t="t" r="r" b="b"/>
              <a:pathLst>
                <a:path w="686689" h="137335">
                  <a:moveTo>
                    <a:pt x="0" y="0"/>
                  </a:moveTo>
                  <a:lnTo>
                    <a:pt x="686689" y="0"/>
                  </a:lnTo>
                  <a:lnTo>
                    <a:pt x="686689" y="137335"/>
                  </a:lnTo>
                  <a:lnTo>
                    <a:pt x="0" y="137335"/>
                  </a:lnTo>
                  <a:close/>
                </a:path>
              </a:pathLst>
            </a:custGeom>
            <a:solidFill>
              <a:srgbClr val="9ECDFF"/>
            </a:solidFill>
          </p:spPr>
        </p:sp>
        <p:sp>
          <p:nvSpPr>
            <p:cNvPr id="12" name="TextBox 12"/>
            <p:cNvSpPr txBox="1"/>
            <p:nvPr/>
          </p:nvSpPr>
          <p:spPr>
            <a:xfrm>
              <a:off x="0" y="-38100"/>
              <a:ext cx="686689" cy="175435"/>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3608319" y="8613721"/>
            <a:ext cx="3379913" cy="502561"/>
            <a:chOff x="0" y="0"/>
            <a:chExt cx="890183" cy="132362"/>
          </a:xfrm>
        </p:grpSpPr>
        <p:sp>
          <p:nvSpPr>
            <p:cNvPr id="14" name="Freeform 14"/>
            <p:cNvSpPr/>
            <p:nvPr/>
          </p:nvSpPr>
          <p:spPr>
            <a:xfrm>
              <a:off x="0" y="0"/>
              <a:ext cx="890183" cy="132362"/>
            </a:xfrm>
            <a:custGeom>
              <a:avLst/>
              <a:gdLst/>
              <a:ahLst/>
              <a:cxnLst/>
              <a:rect l="l" t="t" r="r" b="b"/>
              <a:pathLst>
                <a:path w="890183" h="132362">
                  <a:moveTo>
                    <a:pt x="0" y="0"/>
                  </a:moveTo>
                  <a:lnTo>
                    <a:pt x="890183" y="0"/>
                  </a:lnTo>
                  <a:lnTo>
                    <a:pt x="890183" y="132362"/>
                  </a:lnTo>
                  <a:lnTo>
                    <a:pt x="0" y="132362"/>
                  </a:lnTo>
                  <a:close/>
                </a:path>
              </a:pathLst>
            </a:custGeom>
            <a:solidFill>
              <a:srgbClr val="9ECDFF"/>
            </a:solidFill>
          </p:spPr>
        </p:sp>
        <p:sp>
          <p:nvSpPr>
            <p:cNvPr id="15" name="TextBox 15"/>
            <p:cNvSpPr txBox="1"/>
            <p:nvPr/>
          </p:nvSpPr>
          <p:spPr>
            <a:xfrm>
              <a:off x="0" y="-38100"/>
              <a:ext cx="890183" cy="170462"/>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7183469" y="8594840"/>
            <a:ext cx="2607273" cy="521442"/>
            <a:chOff x="0" y="0"/>
            <a:chExt cx="686689" cy="137335"/>
          </a:xfrm>
        </p:grpSpPr>
        <p:sp>
          <p:nvSpPr>
            <p:cNvPr id="17" name="Freeform 17"/>
            <p:cNvSpPr/>
            <p:nvPr/>
          </p:nvSpPr>
          <p:spPr>
            <a:xfrm>
              <a:off x="0" y="0"/>
              <a:ext cx="686689" cy="137335"/>
            </a:xfrm>
            <a:custGeom>
              <a:avLst/>
              <a:gdLst/>
              <a:ahLst/>
              <a:cxnLst/>
              <a:rect l="l" t="t" r="r" b="b"/>
              <a:pathLst>
                <a:path w="686689" h="137335">
                  <a:moveTo>
                    <a:pt x="0" y="0"/>
                  </a:moveTo>
                  <a:lnTo>
                    <a:pt x="686689" y="0"/>
                  </a:lnTo>
                  <a:lnTo>
                    <a:pt x="686689" y="137335"/>
                  </a:lnTo>
                  <a:lnTo>
                    <a:pt x="0" y="137335"/>
                  </a:lnTo>
                  <a:close/>
                </a:path>
              </a:pathLst>
            </a:custGeom>
            <a:solidFill>
              <a:srgbClr val="9ECDFF"/>
            </a:solidFill>
          </p:spPr>
        </p:sp>
        <p:sp>
          <p:nvSpPr>
            <p:cNvPr id="18" name="TextBox 18"/>
            <p:cNvSpPr txBox="1"/>
            <p:nvPr/>
          </p:nvSpPr>
          <p:spPr>
            <a:xfrm>
              <a:off x="0" y="-38100"/>
              <a:ext cx="686689" cy="17543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0109856" y="8594840"/>
            <a:ext cx="3868267" cy="521442"/>
            <a:chOff x="0" y="0"/>
            <a:chExt cx="1018803" cy="137335"/>
          </a:xfrm>
        </p:grpSpPr>
        <p:sp>
          <p:nvSpPr>
            <p:cNvPr id="20" name="Freeform 20"/>
            <p:cNvSpPr/>
            <p:nvPr/>
          </p:nvSpPr>
          <p:spPr>
            <a:xfrm>
              <a:off x="0" y="0"/>
              <a:ext cx="1018803" cy="137335"/>
            </a:xfrm>
            <a:custGeom>
              <a:avLst/>
              <a:gdLst/>
              <a:ahLst/>
              <a:cxnLst/>
              <a:rect l="l" t="t" r="r" b="b"/>
              <a:pathLst>
                <a:path w="1018803" h="137335">
                  <a:moveTo>
                    <a:pt x="0" y="0"/>
                  </a:moveTo>
                  <a:lnTo>
                    <a:pt x="1018803" y="0"/>
                  </a:lnTo>
                  <a:lnTo>
                    <a:pt x="1018803" y="137335"/>
                  </a:lnTo>
                  <a:lnTo>
                    <a:pt x="0" y="137335"/>
                  </a:lnTo>
                  <a:close/>
                </a:path>
              </a:pathLst>
            </a:custGeom>
            <a:solidFill>
              <a:srgbClr val="9ECDFF"/>
            </a:solidFill>
          </p:spPr>
        </p:sp>
        <p:sp>
          <p:nvSpPr>
            <p:cNvPr id="21" name="TextBox 21"/>
            <p:cNvSpPr txBox="1"/>
            <p:nvPr/>
          </p:nvSpPr>
          <p:spPr>
            <a:xfrm>
              <a:off x="0" y="-38100"/>
              <a:ext cx="1018803" cy="175435"/>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14257420" y="8594840"/>
            <a:ext cx="2891900" cy="521442"/>
            <a:chOff x="0" y="0"/>
            <a:chExt cx="761653" cy="137335"/>
          </a:xfrm>
        </p:grpSpPr>
        <p:sp>
          <p:nvSpPr>
            <p:cNvPr id="23" name="Freeform 23"/>
            <p:cNvSpPr/>
            <p:nvPr/>
          </p:nvSpPr>
          <p:spPr>
            <a:xfrm>
              <a:off x="0" y="0"/>
              <a:ext cx="761653" cy="137335"/>
            </a:xfrm>
            <a:custGeom>
              <a:avLst/>
              <a:gdLst/>
              <a:ahLst/>
              <a:cxnLst/>
              <a:rect l="l" t="t" r="r" b="b"/>
              <a:pathLst>
                <a:path w="761653" h="137335">
                  <a:moveTo>
                    <a:pt x="0" y="0"/>
                  </a:moveTo>
                  <a:lnTo>
                    <a:pt x="761653" y="0"/>
                  </a:lnTo>
                  <a:lnTo>
                    <a:pt x="761653" y="137335"/>
                  </a:lnTo>
                  <a:lnTo>
                    <a:pt x="0" y="137335"/>
                  </a:lnTo>
                  <a:close/>
                </a:path>
              </a:pathLst>
            </a:custGeom>
            <a:solidFill>
              <a:srgbClr val="9ECDFF"/>
            </a:solidFill>
          </p:spPr>
        </p:sp>
        <p:sp>
          <p:nvSpPr>
            <p:cNvPr id="24" name="TextBox 24"/>
            <p:cNvSpPr txBox="1"/>
            <p:nvPr/>
          </p:nvSpPr>
          <p:spPr>
            <a:xfrm>
              <a:off x="0" y="-38100"/>
              <a:ext cx="761653" cy="175435"/>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1009546" y="8564096"/>
            <a:ext cx="2427323" cy="497205"/>
          </a:xfrm>
          <a:prstGeom prst="rect">
            <a:avLst/>
          </a:prstGeom>
        </p:spPr>
        <p:txBody>
          <a:bodyPr lIns="0" tIns="0" rIns="0" bIns="0" rtlCol="0" anchor="t">
            <a:spAutoFit/>
          </a:bodyPr>
          <a:lstStyle/>
          <a:p>
            <a:pPr marL="0" lvl="0" indent="0" algn="l">
              <a:lnSpc>
                <a:spcPts val="4050"/>
              </a:lnSpc>
              <a:spcBef>
                <a:spcPct val="0"/>
              </a:spcBef>
            </a:pPr>
            <a:r>
              <a:rPr lang="en-US" sz="2700">
                <a:solidFill>
                  <a:srgbClr val="000000"/>
                </a:solidFill>
                <a:latin typeface="Quicksand"/>
                <a:ea typeface="Quicksand"/>
                <a:cs typeface="Quicksand"/>
                <a:sym typeface="Quicksand"/>
              </a:rPr>
              <a:t>Nikhil 112316031</a:t>
            </a:r>
          </a:p>
        </p:txBody>
      </p:sp>
      <p:sp>
        <p:nvSpPr>
          <p:cNvPr id="26" name="TextBox 26"/>
          <p:cNvSpPr txBox="1"/>
          <p:nvPr/>
        </p:nvSpPr>
        <p:spPr>
          <a:xfrm>
            <a:off x="3646741" y="8564096"/>
            <a:ext cx="3536728" cy="477438"/>
          </a:xfrm>
          <a:prstGeom prst="rect">
            <a:avLst/>
          </a:prstGeom>
        </p:spPr>
        <p:txBody>
          <a:bodyPr lIns="0" tIns="0" rIns="0" bIns="0" rtlCol="0" anchor="t">
            <a:spAutoFit/>
          </a:bodyPr>
          <a:lstStyle/>
          <a:p>
            <a:pPr marL="0" lvl="0" indent="0" algn="l">
              <a:lnSpc>
                <a:spcPts val="4050"/>
              </a:lnSpc>
              <a:spcBef>
                <a:spcPct val="0"/>
              </a:spcBef>
            </a:pPr>
            <a:r>
              <a:rPr lang="en-US" sz="2700" dirty="0" err="1">
                <a:solidFill>
                  <a:srgbClr val="000000"/>
                </a:solidFill>
                <a:latin typeface="Quicksand"/>
                <a:ea typeface="Quicksand"/>
                <a:cs typeface="Quicksand"/>
                <a:sym typeface="Quicksand"/>
              </a:rPr>
              <a:t>Visweswar</a:t>
            </a:r>
            <a:r>
              <a:rPr lang="en-US" sz="2700" dirty="0">
                <a:solidFill>
                  <a:srgbClr val="000000"/>
                </a:solidFill>
                <a:latin typeface="Quicksand"/>
                <a:ea typeface="Quicksand"/>
                <a:cs typeface="Quicksand"/>
                <a:sym typeface="Quicksand"/>
              </a:rPr>
              <a:t> 112316009</a:t>
            </a:r>
          </a:p>
        </p:txBody>
      </p:sp>
      <p:sp>
        <p:nvSpPr>
          <p:cNvPr id="27" name="TextBox 27"/>
          <p:cNvSpPr txBox="1"/>
          <p:nvPr/>
        </p:nvSpPr>
        <p:spPr>
          <a:xfrm>
            <a:off x="7404964" y="8573537"/>
            <a:ext cx="2483397" cy="497205"/>
          </a:xfrm>
          <a:prstGeom prst="rect">
            <a:avLst/>
          </a:prstGeom>
        </p:spPr>
        <p:txBody>
          <a:bodyPr lIns="0" tIns="0" rIns="0" bIns="0" rtlCol="0" anchor="t">
            <a:spAutoFit/>
          </a:bodyPr>
          <a:lstStyle/>
          <a:p>
            <a:pPr marL="0" lvl="0" indent="0" algn="l">
              <a:lnSpc>
                <a:spcPts val="4050"/>
              </a:lnSpc>
              <a:spcBef>
                <a:spcPct val="0"/>
              </a:spcBef>
            </a:pPr>
            <a:r>
              <a:rPr lang="en-US" sz="2700">
                <a:solidFill>
                  <a:srgbClr val="000000"/>
                </a:solidFill>
                <a:latin typeface="Quicksand"/>
                <a:ea typeface="Quicksand"/>
                <a:cs typeface="Quicksand"/>
                <a:sym typeface="Quicksand"/>
              </a:rPr>
              <a:t>Vinit 112316010</a:t>
            </a:r>
          </a:p>
        </p:txBody>
      </p:sp>
      <p:sp>
        <p:nvSpPr>
          <p:cNvPr id="28" name="TextBox 28"/>
          <p:cNvSpPr txBox="1"/>
          <p:nvPr/>
        </p:nvSpPr>
        <p:spPr>
          <a:xfrm>
            <a:off x="10332516" y="8564096"/>
            <a:ext cx="3645606" cy="497205"/>
          </a:xfrm>
          <a:prstGeom prst="rect">
            <a:avLst/>
          </a:prstGeom>
        </p:spPr>
        <p:txBody>
          <a:bodyPr lIns="0" tIns="0" rIns="0" bIns="0" rtlCol="0" anchor="t">
            <a:spAutoFit/>
          </a:bodyPr>
          <a:lstStyle/>
          <a:p>
            <a:pPr marL="0" lvl="0" indent="0" algn="l">
              <a:lnSpc>
                <a:spcPts val="4050"/>
              </a:lnSpc>
              <a:spcBef>
                <a:spcPct val="0"/>
              </a:spcBef>
            </a:pPr>
            <a:r>
              <a:rPr lang="en-US" sz="2700">
                <a:solidFill>
                  <a:srgbClr val="000000"/>
                </a:solidFill>
                <a:latin typeface="Quicksand"/>
                <a:ea typeface="Quicksand"/>
                <a:cs typeface="Quicksand"/>
                <a:sym typeface="Quicksand"/>
              </a:rPr>
              <a:t>Sangamesh 112316041</a:t>
            </a:r>
          </a:p>
        </p:txBody>
      </p:sp>
      <p:sp>
        <p:nvSpPr>
          <p:cNvPr id="29" name="TextBox 29"/>
          <p:cNvSpPr txBox="1"/>
          <p:nvPr/>
        </p:nvSpPr>
        <p:spPr>
          <a:xfrm>
            <a:off x="14257420" y="8509115"/>
            <a:ext cx="2891900" cy="497205"/>
          </a:xfrm>
          <a:prstGeom prst="rect">
            <a:avLst/>
          </a:prstGeom>
        </p:spPr>
        <p:txBody>
          <a:bodyPr lIns="0" tIns="0" rIns="0" bIns="0" rtlCol="0" anchor="t">
            <a:spAutoFit/>
          </a:bodyPr>
          <a:lstStyle/>
          <a:p>
            <a:pPr marL="0" lvl="0" indent="0" algn="l">
              <a:lnSpc>
                <a:spcPts val="4050"/>
              </a:lnSpc>
              <a:spcBef>
                <a:spcPct val="0"/>
              </a:spcBef>
            </a:pPr>
            <a:r>
              <a:rPr lang="en-US" sz="2700">
                <a:solidFill>
                  <a:srgbClr val="000000"/>
                </a:solidFill>
                <a:latin typeface="Quicksand"/>
                <a:ea typeface="Quicksand"/>
                <a:cs typeface="Quicksand"/>
                <a:sym typeface="Quicksand"/>
              </a:rPr>
              <a:t>Bhavya 112316012</a:t>
            </a:r>
          </a:p>
        </p:txBody>
      </p:sp>
      <p:sp>
        <p:nvSpPr>
          <p:cNvPr id="30" name="TextBox 30"/>
          <p:cNvSpPr txBox="1"/>
          <p:nvPr/>
        </p:nvSpPr>
        <p:spPr>
          <a:xfrm>
            <a:off x="829596" y="5038725"/>
            <a:ext cx="17458404" cy="1979297"/>
          </a:xfrm>
          <a:prstGeom prst="rect">
            <a:avLst/>
          </a:prstGeom>
        </p:spPr>
        <p:txBody>
          <a:bodyPr lIns="0" tIns="0" rIns="0" bIns="0" rtlCol="0" anchor="t">
            <a:spAutoFit/>
          </a:bodyPr>
          <a:lstStyle/>
          <a:p>
            <a:pPr algn="l">
              <a:lnSpc>
                <a:spcPts val="7979"/>
              </a:lnSpc>
              <a:spcBef>
                <a:spcPct val="0"/>
              </a:spcBef>
            </a:pPr>
            <a:r>
              <a:rPr lang="en-US" sz="5699">
                <a:solidFill>
                  <a:srgbClr val="FFFFFF"/>
                </a:solidFill>
                <a:latin typeface="Varela Round"/>
                <a:ea typeface="Varela Round"/>
                <a:cs typeface="Varela Round"/>
                <a:sym typeface="Varela Round"/>
              </a:rPr>
              <a:t>Energy-Aware Online Positioning of UAV Base Stations in Dynamic Networks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1404938" y="914400"/>
            <a:ext cx="15478125" cy="1085215"/>
          </a:xfrm>
          <a:prstGeom prst="rect">
            <a:avLst/>
          </a:prstGeom>
        </p:spPr>
        <p:txBody>
          <a:bodyPr lIns="0" tIns="0" rIns="0" bIns="0" rtlCol="0" anchor="t">
            <a:spAutoFit/>
          </a:bodyPr>
          <a:lstStyle/>
          <a:p>
            <a:pPr algn="ctr">
              <a:lnSpc>
                <a:spcPts val="8959"/>
              </a:lnSpc>
            </a:pPr>
            <a:r>
              <a:rPr lang="en-US" sz="6399">
                <a:solidFill>
                  <a:srgbClr val="FFFFFF"/>
                </a:solidFill>
                <a:latin typeface="Fredoka"/>
                <a:ea typeface="Fredoka"/>
                <a:cs typeface="Fredoka"/>
                <a:sym typeface="Fredoka"/>
              </a:rPr>
              <a:t>PROBLEM  STATEMENT</a:t>
            </a:r>
          </a:p>
        </p:txBody>
      </p:sp>
      <p:grpSp>
        <p:nvGrpSpPr>
          <p:cNvPr id="3" name="Group 3"/>
          <p:cNvGrpSpPr/>
          <p:nvPr/>
        </p:nvGrpSpPr>
        <p:grpSpPr>
          <a:xfrm>
            <a:off x="840657" y="2506997"/>
            <a:ext cx="16606686" cy="7463020"/>
            <a:chOff x="0" y="0"/>
            <a:chExt cx="4373777" cy="1965569"/>
          </a:xfrm>
        </p:grpSpPr>
        <p:sp>
          <p:nvSpPr>
            <p:cNvPr id="4" name="Freeform 4"/>
            <p:cNvSpPr/>
            <p:nvPr/>
          </p:nvSpPr>
          <p:spPr>
            <a:xfrm>
              <a:off x="0" y="0"/>
              <a:ext cx="4373777" cy="1965569"/>
            </a:xfrm>
            <a:custGeom>
              <a:avLst/>
              <a:gdLst/>
              <a:ahLst/>
              <a:cxnLst/>
              <a:rect l="l" t="t" r="r" b="b"/>
              <a:pathLst>
                <a:path w="4373777" h="1965569">
                  <a:moveTo>
                    <a:pt x="0" y="0"/>
                  </a:moveTo>
                  <a:lnTo>
                    <a:pt x="4373777" y="0"/>
                  </a:lnTo>
                  <a:lnTo>
                    <a:pt x="4373777" y="1965569"/>
                  </a:lnTo>
                  <a:lnTo>
                    <a:pt x="0" y="1965569"/>
                  </a:lnTo>
                  <a:close/>
                </a:path>
              </a:pathLst>
            </a:custGeom>
            <a:solidFill>
              <a:srgbClr val="FFFFFF"/>
            </a:solidFill>
          </p:spPr>
        </p:sp>
        <p:sp>
          <p:nvSpPr>
            <p:cNvPr id="5" name="TextBox 5"/>
            <p:cNvSpPr txBox="1"/>
            <p:nvPr/>
          </p:nvSpPr>
          <p:spPr>
            <a:xfrm>
              <a:off x="0" y="-38100"/>
              <a:ext cx="4373777" cy="2003669"/>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404937" y="3085348"/>
            <a:ext cx="15478125" cy="5627370"/>
          </a:xfrm>
          <a:prstGeom prst="rect">
            <a:avLst/>
          </a:prstGeom>
        </p:spPr>
        <p:txBody>
          <a:bodyPr lIns="0" tIns="0" rIns="0" bIns="0" rtlCol="0" anchor="t">
            <a:spAutoFit/>
          </a:bodyPr>
          <a:lstStyle/>
          <a:p>
            <a:pPr algn="l">
              <a:lnSpc>
                <a:spcPts val="4950"/>
              </a:lnSpc>
            </a:pPr>
            <a:r>
              <a:rPr lang="en-US" sz="3300">
                <a:solidFill>
                  <a:srgbClr val="000000"/>
                </a:solidFill>
                <a:latin typeface="Quicksand"/>
                <a:ea typeface="Quicksand"/>
                <a:cs typeface="Quicksand"/>
                <a:sym typeface="Quicksand"/>
              </a:rPr>
              <a:t>When a terrestrial base station fails, communication is lost, and drone-mounted base stations are dynamically deployed to fill the coverage gap. However, current algorithms designed to position these drones focus solely on maximizing network capacity, causing the drone to constantly move to chase the best possible signal. This continuous movement is highly inefficient because it ignores the significant energy costs associated with flying. Therefore, a new approach is needed that balances network performance with movement costs, ensuring the drone only relocates when the communication improvement justifies the energy spent. </a:t>
            </a:r>
          </a:p>
        </p:txBody>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1404938" y="923925"/>
            <a:ext cx="15478125" cy="953135"/>
          </a:xfrm>
          <a:prstGeom prst="rect">
            <a:avLst/>
          </a:prstGeom>
        </p:spPr>
        <p:txBody>
          <a:bodyPr lIns="0" tIns="0" rIns="0" bIns="0" rtlCol="0" anchor="t">
            <a:spAutoFit/>
          </a:bodyPr>
          <a:lstStyle/>
          <a:p>
            <a:pPr algn="ctr">
              <a:lnSpc>
                <a:spcPts val="7840"/>
              </a:lnSpc>
            </a:pPr>
            <a:r>
              <a:rPr lang="en-US" sz="5600">
                <a:solidFill>
                  <a:srgbClr val="FFFFFF"/>
                </a:solidFill>
                <a:latin typeface="Fredoka"/>
                <a:ea typeface="Fredoka"/>
                <a:cs typeface="Fredoka"/>
                <a:sym typeface="Fredoka"/>
              </a:rPr>
              <a:t> BASIC TERMINOLOGY &amp; BACKGROUND</a:t>
            </a:r>
          </a:p>
        </p:txBody>
      </p:sp>
      <p:grpSp>
        <p:nvGrpSpPr>
          <p:cNvPr id="3" name="Group 3"/>
          <p:cNvGrpSpPr/>
          <p:nvPr/>
        </p:nvGrpSpPr>
        <p:grpSpPr>
          <a:xfrm>
            <a:off x="840657" y="2506997"/>
            <a:ext cx="16606686" cy="1335035"/>
            <a:chOff x="0" y="0"/>
            <a:chExt cx="4373777" cy="351614"/>
          </a:xfrm>
        </p:grpSpPr>
        <p:sp>
          <p:nvSpPr>
            <p:cNvPr id="4" name="Freeform 4"/>
            <p:cNvSpPr/>
            <p:nvPr/>
          </p:nvSpPr>
          <p:spPr>
            <a:xfrm>
              <a:off x="0" y="0"/>
              <a:ext cx="4373777" cy="351614"/>
            </a:xfrm>
            <a:custGeom>
              <a:avLst/>
              <a:gdLst/>
              <a:ahLst/>
              <a:cxnLst/>
              <a:rect l="l" t="t" r="r" b="b"/>
              <a:pathLst>
                <a:path w="4373777" h="351614">
                  <a:moveTo>
                    <a:pt x="0" y="0"/>
                  </a:moveTo>
                  <a:lnTo>
                    <a:pt x="4373777" y="0"/>
                  </a:lnTo>
                  <a:lnTo>
                    <a:pt x="4373777" y="351614"/>
                  </a:lnTo>
                  <a:lnTo>
                    <a:pt x="0" y="351614"/>
                  </a:lnTo>
                  <a:close/>
                </a:path>
              </a:pathLst>
            </a:custGeom>
            <a:solidFill>
              <a:srgbClr val="FFFFFF"/>
            </a:solidFill>
          </p:spPr>
        </p:sp>
        <p:sp>
          <p:nvSpPr>
            <p:cNvPr id="5" name="TextBox 5"/>
            <p:cNvSpPr txBox="1"/>
            <p:nvPr/>
          </p:nvSpPr>
          <p:spPr>
            <a:xfrm>
              <a:off x="0" y="-38100"/>
              <a:ext cx="4373777" cy="389714"/>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616820" y="2552347"/>
            <a:ext cx="15478125" cy="1123949"/>
          </a:xfrm>
          <a:prstGeom prst="rect">
            <a:avLst/>
          </a:prstGeom>
        </p:spPr>
        <p:txBody>
          <a:bodyPr lIns="0" tIns="0" rIns="0" bIns="0" rtlCol="0" anchor="t">
            <a:spAutoFit/>
          </a:bodyPr>
          <a:lstStyle/>
          <a:p>
            <a:pPr marL="647703" lvl="1" indent="-323852" algn="just">
              <a:lnSpc>
                <a:spcPts val="4500"/>
              </a:lnSpc>
              <a:spcBef>
                <a:spcPct val="0"/>
              </a:spcBef>
              <a:buFont typeface="Arial"/>
              <a:buChar char="•"/>
            </a:pPr>
            <a:r>
              <a:rPr lang="en-US" sz="3000" b="1">
                <a:solidFill>
                  <a:srgbClr val="000000"/>
                </a:solidFill>
                <a:latin typeface="Quicksand Bold"/>
                <a:ea typeface="Quicksand Bold"/>
                <a:cs typeface="Quicksand Bold"/>
                <a:sym typeface="Quicksand Bold"/>
              </a:rPr>
              <a:t>Coverage Hole: </a:t>
            </a:r>
            <a:r>
              <a:rPr lang="en-US" sz="3000">
                <a:solidFill>
                  <a:srgbClr val="000000"/>
                </a:solidFill>
                <a:latin typeface="Quicksand"/>
                <a:ea typeface="Quicksand"/>
                <a:cs typeface="Quicksand"/>
                <a:sym typeface="Quicksand"/>
              </a:rPr>
              <a:t>Area where users receive no or insufficient signal, typically caused by a site failure</a:t>
            </a:r>
          </a:p>
        </p:txBody>
      </p:sp>
      <p:grpSp>
        <p:nvGrpSpPr>
          <p:cNvPr id="7" name="Group 7"/>
          <p:cNvGrpSpPr/>
          <p:nvPr/>
        </p:nvGrpSpPr>
        <p:grpSpPr>
          <a:xfrm>
            <a:off x="840657" y="4371005"/>
            <a:ext cx="16606686" cy="1335035"/>
            <a:chOff x="0" y="0"/>
            <a:chExt cx="4373777" cy="351614"/>
          </a:xfrm>
        </p:grpSpPr>
        <p:sp>
          <p:nvSpPr>
            <p:cNvPr id="8" name="Freeform 8"/>
            <p:cNvSpPr/>
            <p:nvPr/>
          </p:nvSpPr>
          <p:spPr>
            <a:xfrm>
              <a:off x="0" y="0"/>
              <a:ext cx="4373777" cy="351614"/>
            </a:xfrm>
            <a:custGeom>
              <a:avLst/>
              <a:gdLst/>
              <a:ahLst/>
              <a:cxnLst/>
              <a:rect l="l" t="t" r="r" b="b"/>
              <a:pathLst>
                <a:path w="4373777" h="351614">
                  <a:moveTo>
                    <a:pt x="0" y="0"/>
                  </a:moveTo>
                  <a:lnTo>
                    <a:pt x="4373777" y="0"/>
                  </a:lnTo>
                  <a:lnTo>
                    <a:pt x="4373777" y="351614"/>
                  </a:lnTo>
                  <a:lnTo>
                    <a:pt x="0" y="351614"/>
                  </a:lnTo>
                  <a:close/>
                </a:path>
              </a:pathLst>
            </a:custGeom>
            <a:solidFill>
              <a:srgbClr val="FFFFFF"/>
            </a:solidFill>
          </p:spPr>
        </p:sp>
        <p:sp>
          <p:nvSpPr>
            <p:cNvPr id="9" name="TextBox 9"/>
            <p:cNvSpPr txBox="1"/>
            <p:nvPr/>
          </p:nvSpPr>
          <p:spPr>
            <a:xfrm>
              <a:off x="0" y="-38100"/>
              <a:ext cx="4373777" cy="389714"/>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616820" y="4404007"/>
            <a:ext cx="16432310" cy="1057275"/>
          </a:xfrm>
          <a:prstGeom prst="rect">
            <a:avLst/>
          </a:prstGeom>
        </p:spPr>
        <p:txBody>
          <a:bodyPr lIns="0" tIns="0" rIns="0" bIns="0" rtlCol="0" anchor="t">
            <a:spAutoFit/>
          </a:bodyPr>
          <a:lstStyle/>
          <a:p>
            <a:pPr marL="647702" lvl="1" indent="-323851" algn="just">
              <a:lnSpc>
                <a:spcPts val="4200"/>
              </a:lnSpc>
              <a:buFont typeface="Arial"/>
              <a:buChar char="•"/>
            </a:pPr>
            <a:r>
              <a:rPr lang="en-US" sz="3000" b="1">
                <a:solidFill>
                  <a:srgbClr val="000000"/>
                </a:solidFill>
                <a:latin typeface="Quicksand Bold"/>
                <a:ea typeface="Quicksand Bold"/>
                <a:cs typeface="Quicksand Bold"/>
                <a:sym typeface="Quicksand Bold"/>
              </a:rPr>
              <a:t>Aerial Base Station (Aerial-BS): </a:t>
            </a:r>
            <a:r>
              <a:rPr lang="en-US" sz="3000">
                <a:solidFill>
                  <a:srgbClr val="000000"/>
                </a:solidFill>
                <a:latin typeface="Quicksand"/>
                <a:ea typeface="Quicksand"/>
                <a:cs typeface="Quicksand"/>
                <a:sym typeface="Quicksand"/>
              </a:rPr>
              <a:t>A base station mounted on a UAV, offering a flexible and agile alternative to fixed terrestrial infrastructure. </a:t>
            </a:r>
          </a:p>
        </p:txBody>
      </p:sp>
      <p:grpSp>
        <p:nvGrpSpPr>
          <p:cNvPr id="11" name="Group 11"/>
          <p:cNvGrpSpPr/>
          <p:nvPr/>
        </p:nvGrpSpPr>
        <p:grpSpPr>
          <a:xfrm>
            <a:off x="840657" y="8203125"/>
            <a:ext cx="16606686" cy="1335035"/>
            <a:chOff x="0" y="0"/>
            <a:chExt cx="4373777" cy="351614"/>
          </a:xfrm>
        </p:grpSpPr>
        <p:sp>
          <p:nvSpPr>
            <p:cNvPr id="12" name="Freeform 12"/>
            <p:cNvSpPr/>
            <p:nvPr/>
          </p:nvSpPr>
          <p:spPr>
            <a:xfrm>
              <a:off x="0" y="0"/>
              <a:ext cx="4373777" cy="351614"/>
            </a:xfrm>
            <a:custGeom>
              <a:avLst/>
              <a:gdLst/>
              <a:ahLst/>
              <a:cxnLst/>
              <a:rect l="l" t="t" r="r" b="b"/>
              <a:pathLst>
                <a:path w="4373777" h="351614">
                  <a:moveTo>
                    <a:pt x="0" y="0"/>
                  </a:moveTo>
                  <a:lnTo>
                    <a:pt x="4373777" y="0"/>
                  </a:lnTo>
                  <a:lnTo>
                    <a:pt x="4373777" y="351614"/>
                  </a:lnTo>
                  <a:lnTo>
                    <a:pt x="0" y="351614"/>
                  </a:lnTo>
                  <a:close/>
                </a:path>
              </a:pathLst>
            </a:custGeom>
            <a:solidFill>
              <a:srgbClr val="FFFFFF"/>
            </a:solidFill>
          </p:spPr>
        </p:sp>
        <p:sp>
          <p:nvSpPr>
            <p:cNvPr id="13" name="TextBox 13"/>
            <p:cNvSpPr txBox="1"/>
            <p:nvPr/>
          </p:nvSpPr>
          <p:spPr>
            <a:xfrm>
              <a:off x="0" y="-38100"/>
              <a:ext cx="4373777" cy="389714"/>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616820" y="8203125"/>
            <a:ext cx="15920579" cy="1552576"/>
          </a:xfrm>
          <a:prstGeom prst="rect">
            <a:avLst/>
          </a:prstGeom>
        </p:spPr>
        <p:txBody>
          <a:bodyPr lIns="0" tIns="0" rIns="0" bIns="0" rtlCol="0" anchor="t">
            <a:spAutoFit/>
          </a:bodyPr>
          <a:lstStyle/>
          <a:p>
            <a:pPr marL="647694" lvl="1" indent="-323847" algn="l">
              <a:lnSpc>
                <a:spcPts val="4199"/>
              </a:lnSpc>
              <a:buFont typeface="Arial"/>
              <a:buChar char="•"/>
            </a:pPr>
            <a:r>
              <a:rPr lang="en-US" sz="2999" b="1">
                <a:solidFill>
                  <a:srgbClr val="000000"/>
                </a:solidFill>
                <a:latin typeface="Quicksand Bold"/>
                <a:ea typeface="Quicksand Bold"/>
                <a:cs typeface="Quicksand Bold"/>
                <a:sym typeface="Quicksand Bold"/>
              </a:rPr>
              <a:t>Cell Individual Offset (CIO):</a:t>
            </a:r>
            <a:r>
              <a:rPr lang="en-US" sz="2999">
                <a:solidFill>
                  <a:srgbClr val="000000"/>
                </a:solidFill>
                <a:latin typeface="Quicksand"/>
                <a:ea typeface="Quicksand"/>
                <a:cs typeface="Quicksand"/>
                <a:sym typeface="Quicksand"/>
              </a:rPr>
              <a:t> Bias in cell selection used to shift users between cells →Helps balance load</a:t>
            </a:r>
          </a:p>
          <a:p>
            <a:pPr algn="l">
              <a:lnSpc>
                <a:spcPts val="4199"/>
              </a:lnSpc>
            </a:pPr>
            <a:endParaRPr lang="en-US" sz="2999">
              <a:solidFill>
                <a:srgbClr val="000000"/>
              </a:solidFill>
              <a:latin typeface="Quicksand"/>
              <a:ea typeface="Quicksand"/>
              <a:cs typeface="Quicksand"/>
              <a:sym typeface="Quicksand"/>
            </a:endParaRPr>
          </a:p>
        </p:txBody>
      </p:sp>
      <p:grpSp>
        <p:nvGrpSpPr>
          <p:cNvPr id="15" name="Group 15"/>
          <p:cNvGrpSpPr/>
          <p:nvPr/>
        </p:nvGrpSpPr>
        <p:grpSpPr>
          <a:xfrm>
            <a:off x="840657" y="6239440"/>
            <a:ext cx="16606686" cy="1335035"/>
            <a:chOff x="0" y="0"/>
            <a:chExt cx="4373777" cy="351614"/>
          </a:xfrm>
        </p:grpSpPr>
        <p:sp>
          <p:nvSpPr>
            <p:cNvPr id="16" name="Freeform 16"/>
            <p:cNvSpPr/>
            <p:nvPr/>
          </p:nvSpPr>
          <p:spPr>
            <a:xfrm>
              <a:off x="0" y="0"/>
              <a:ext cx="4373777" cy="351614"/>
            </a:xfrm>
            <a:custGeom>
              <a:avLst/>
              <a:gdLst/>
              <a:ahLst/>
              <a:cxnLst/>
              <a:rect l="l" t="t" r="r" b="b"/>
              <a:pathLst>
                <a:path w="4373777" h="351614">
                  <a:moveTo>
                    <a:pt x="0" y="0"/>
                  </a:moveTo>
                  <a:lnTo>
                    <a:pt x="4373777" y="0"/>
                  </a:lnTo>
                  <a:lnTo>
                    <a:pt x="4373777" y="351614"/>
                  </a:lnTo>
                  <a:lnTo>
                    <a:pt x="0" y="351614"/>
                  </a:lnTo>
                  <a:close/>
                </a:path>
              </a:pathLst>
            </a:custGeom>
            <a:solidFill>
              <a:srgbClr val="FFFFFF"/>
            </a:solidFill>
          </p:spPr>
        </p:sp>
        <p:sp>
          <p:nvSpPr>
            <p:cNvPr id="17" name="TextBox 17"/>
            <p:cNvSpPr txBox="1"/>
            <p:nvPr/>
          </p:nvSpPr>
          <p:spPr>
            <a:xfrm>
              <a:off x="0" y="-38100"/>
              <a:ext cx="4373777" cy="389714"/>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616820" y="6310692"/>
            <a:ext cx="16432310" cy="1028701"/>
          </a:xfrm>
          <a:prstGeom prst="rect">
            <a:avLst/>
          </a:prstGeom>
        </p:spPr>
        <p:txBody>
          <a:bodyPr lIns="0" tIns="0" rIns="0" bIns="0" rtlCol="0" anchor="t">
            <a:spAutoFit/>
          </a:bodyPr>
          <a:lstStyle/>
          <a:p>
            <a:pPr marL="647694" lvl="1" indent="-323847" algn="l">
              <a:lnSpc>
                <a:spcPts val="4199"/>
              </a:lnSpc>
              <a:buFont typeface="Arial"/>
              <a:buChar char="•"/>
            </a:pPr>
            <a:r>
              <a:rPr lang="en-US" sz="2999" b="1">
                <a:solidFill>
                  <a:srgbClr val="000000"/>
                </a:solidFill>
                <a:latin typeface="Quicksand Bold"/>
                <a:ea typeface="Quicksand Bold"/>
                <a:cs typeface="Quicksand Bold"/>
                <a:sym typeface="Quicksand Bold"/>
              </a:rPr>
              <a:t>Traffic Hotspots:</a:t>
            </a:r>
            <a:r>
              <a:rPr lang="en-US" sz="2999">
                <a:solidFill>
                  <a:srgbClr val="000000"/>
                </a:solidFill>
                <a:latin typeface="Quicksand"/>
                <a:ea typeface="Quicksand"/>
                <a:cs typeface="Quicksand"/>
                <a:sym typeface="Quicksand"/>
              </a:rPr>
              <a:t> Sudden surges in network demand caused by large crowds (festivals, sports events) or displaced populations during emergencies. </a:t>
            </a: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1404938" y="923925"/>
            <a:ext cx="15478125" cy="953135"/>
          </a:xfrm>
          <a:prstGeom prst="rect">
            <a:avLst/>
          </a:prstGeom>
        </p:spPr>
        <p:txBody>
          <a:bodyPr lIns="0" tIns="0" rIns="0" bIns="0" rtlCol="0" anchor="t">
            <a:spAutoFit/>
          </a:bodyPr>
          <a:lstStyle/>
          <a:p>
            <a:pPr algn="ctr">
              <a:lnSpc>
                <a:spcPts val="7840"/>
              </a:lnSpc>
            </a:pPr>
            <a:r>
              <a:rPr lang="en-US" sz="5600">
                <a:solidFill>
                  <a:srgbClr val="FFFFFF"/>
                </a:solidFill>
                <a:latin typeface="Fredoka"/>
                <a:ea typeface="Fredoka"/>
                <a:cs typeface="Fredoka"/>
                <a:sym typeface="Fredoka"/>
              </a:rPr>
              <a:t> BASIC TERMINOLOGY &amp; BACKGROUND</a:t>
            </a:r>
          </a:p>
        </p:txBody>
      </p:sp>
      <p:grpSp>
        <p:nvGrpSpPr>
          <p:cNvPr id="3" name="Group 3"/>
          <p:cNvGrpSpPr/>
          <p:nvPr/>
        </p:nvGrpSpPr>
        <p:grpSpPr>
          <a:xfrm>
            <a:off x="840657" y="2506997"/>
            <a:ext cx="17027012" cy="1335035"/>
            <a:chOff x="0" y="0"/>
            <a:chExt cx="4484480" cy="351614"/>
          </a:xfrm>
        </p:grpSpPr>
        <p:sp>
          <p:nvSpPr>
            <p:cNvPr id="4" name="Freeform 4"/>
            <p:cNvSpPr/>
            <p:nvPr/>
          </p:nvSpPr>
          <p:spPr>
            <a:xfrm>
              <a:off x="0" y="0"/>
              <a:ext cx="4484481" cy="351614"/>
            </a:xfrm>
            <a:custGeom>
              <a:avLst/>
              <a:gdLst/>
              <a:ahLst/>
              <a:cxnLst/>
              <a:rect l="l" t="t" r="r" b="b"/>
              <a:pathLst>
                <a:path w="4484481" h="351614">
                  <a:moveTo>
                    <a:pt x="0" y="0"/>
                  </a:moveTo>
                  <a:lnTo>
                    <a:pt x="4484481" y="0"/>
                  </a:lnTo>
                  <a:lnTo>
                    <a:pt x="4484481" y="351614"/>
                  </a:lnTo>
                  <a:lnTo>
                    <a:pt x="0" y="351614"/>
                  </a:lnTo>
                  <a:close/>
                </a:path>
              </a:pathLst>
            </a:custGeom>
            <a:solidFill>
              <a:srgbClr val="FFFFFF"/>
            </a:solidFill>
          </p:spPr>
        </p:sp>
        <p:sp>
          <p:nvSpPr>
            <p:cNvPr id="5" name="TextBox 5"/>
            <p:cNvSpPr txBox="1"/>
            <p:nvPr/>
          </p:nvSpPr>
          <p:spPr>
            <a:xfrm>
              <a:off x="0" y="-38100"/>
              <a:ext cx="4484480" cy="389714"/>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616820" y="2561256"/>
            <a:ext cx="15478125" cy="1123949"/>
          </a:xfrm>
          <a:prstGeom prst="rect">
            <a:avLst/>
          </a:prstGeom>
        </p:spPr>
        <p:txBody>
          <a:bodyPr lIns="0" tIns="0" rIns="0" bIns="0" rtlCol="0" anchor="t">
            <a:spAutoFit/>
          </a:bodyPr>
          <a:lstStyle/>
          <a:p>
            <a:pPr marL="647703" lvl="1" indent="-323852" algn="l">
              <a:lnSpc>
                <a:spcPts val="4500"/>
              </a:lnSpc>
              <a:buFont typeface="Arial"/>
              <a:buChar char="•"/>
            </a:pPr>
            <a:r>
              <a:rPr lang="en-US" sz="3000" b="1">
                <a:solidFill>
                  <a:srgbClr val="000000"/>
                </a:solidFill>
                <a:latin typeface="Quicksand Bold"/>
                <a:ea typeface="Quicksand Bold"/>
                <a:cs typeface="Quicksand Bold"/>
                <a:sym typeface="Quicksand Bold"/>
              </a:rPr>
              <a:t>QoS (Quality of Service): </a:t>
            </a:r>
            <a:r>
              <a:rPr lang="en-US" sz="3000">
                <a:solidFill>
                  <a:srgbClr val="000000"/>
                </a:solidFill>
                <a:latin typeface="Quicksand"/>
                <a:ea typeface="Quicksand"/>
                <a:cs typeface="Quicksand"/>
                <a:sym typeface="Quicksand"/>
              </a:rPr>
              <a:t>A measure of the overall performance of the network, often quantified by throughput, signal strength, or call success. </a:t>
            </a:r>
          </a:p>
        </p:txBody>
      </p:sp>
      <p:grpSp>
        <p:nvGrpSpPr>
          <p:cNvPr id="7" name="Group 7"/>
          <p:cNvGrpSpPr/>
          <p:nvPr/>
        </p:nvGrpSpPr>
        <p:grpSpPr>
          <a:xfrm>
            <a:off x="840657" y="4371005"/>
            <a:ext cx="17027012" cy="1335035"/>
            <a:chOff x="0" y="0"/>
            <a:chExt cx="4484480" cy="351614"/>
          </a:xfrm>
        </p:grpSpPr>
        <p:sp>
          <p:nvSpPr>
            <p:cNvPr id="8" name="Freeform 8"/>
            <p:cNvSpPr/>
            <p:nvPr/>
          </p:nvSpPr>
          <p:spPr>
            <a:xfrm>
              <a:off x="0" y="0"/>
              <a:ext cx="4484481" cy="351614"/>
            </a:xfrm>
            <a:custGeom>
              <a:avLst/>
              <a:gdLst/>
              <a:ahLst/>
              <a:cxnLst/>
              <a:rect l="l" t="t" r="r" b="b"/>
              <a:pathLst>
                <a:path w="4484481" h="351614">
                  <a:moveTo>
                    <a:pt x="0" y="0"/>
                  </a:moveTo>
                  <a:lnTo>
                    <a:pt x="4484481" y="0"/>
                  </a:lnTo>
                  <a:lnTo>
                    <a:pt x="4484481" y="351614"/>
                  </a:lnTo>
                  <a:lnTo>
                    <a:pt x="0" y="351614"/>
                  </a:lnTo>
                  <a:close/>
                </a:path>
              </a:pathLst>
            </a:custGeom>
            <a:solidFill>
              <a:srgbClr val="FFFFFF"/>
            </a:solidFill>
          </p:spPr>
        </p:sp>
        <p:sp>
          <p:nvSpPr>
            <p:cNvPr id="9" name="TextBox 9"/>
            <p:cNvSpPr txBox="1"/>
            <p:nvPr/>
          </p:nvSpPr>
          <p:spPr>
            <a:xfrm>
              <a:off x="0" y="-38100"/>
              <a:ext cx="4484480" cy="389714"/>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518575" y="4404007"/>
            <a:ext cx="17250849" cy="1057275"/>
          </a:xfrm>
          <a:prstGeom prst="rect">
            <a:avLst/>
          </a:prstGeom>
        </p:spPr>
        <p:txBody>
          <a:bodyPr lIns="0" tIns="0" rIns="0" bIns="0" rtlCol="0" anchor="t">
            <a:spAutoFit/>
          </a:bodyPr>
          <a:lstStyle/>
          <a:p>
            <a:pPr marL="647702" lvl="1" indent="-323851" algn="just">
              <a:lnSpc>
                <a:spcPts val="4200"/>
              </a:lnSpc>
              <a:buFont typeface="Arial"/>
              <a:buChar char="•"/>
            </a:pPr>
            <a:r>
              <a:rPr lang="en-US" sz="3000" b="1">
                <a:solidFill>
                  <a:srgbClr val="000000"/>
                </a:solidFill>
                <a:latin typeface="Quicksand Bold"/>
                <a:ea typeface="Quicksand Bold"/>
                <a:cs typeface="Quicksand Bold"/>
                <a:sym typeface="Quicksand Bold"/>
              </a:rPr>
              <a:t>CSR (Call Success Rate): </a:t>
            </a:r>
            <a:r>
              <a:rPr lang="en-US" sz="3000">
                <a:solidFill>
                  <a:srgbClr val="000000"/>
                </a:solidFill>
                <a:latin typeface="Quicksand"/>
                <a:ea typeface="Quicksand"/>
                <a:cs typeface="Quicksand"/>
                <a:sym typeface="Quicksand"/>
              </a:rPr>
              <a:t>The fraction of initiated calls that successfully maintain a connection and meet minimum bit rate requirements. Main performance metric used in the paper</a:t>
            </a:r>
          </a:p>
        </p:txBody>
      </p:sp>
      <p:grpSp>
        <p:nvGrpSpPr>
          <p:cNvPr id="11" name="Group 11"/>
          <p:cNvGrpSpPr/>
          <p:nvPr/>
        </p:nvGrpSpPr>
        <p:grpSpPr>
          <a:xfrm>
            <a:off x="840657" y="8203125"/>
            <a:ext cx="17027012" cy="1335035"/>
            <a:chOff x="0" y="0"/>
            <a:chExt cx="4484480" cy="351614"/>
          </a:xfrm>
        </p:grpSpPr>
        <p:sp>
          <p:nvSpPr>
            <p:cNvPr id="12" name="Freeform 12"/>
            <p:cNvSpPr/>
            <p:nvPr/>
          </p:nvSpPr>
          <p:spPr>
            <a:xfrm>
              <a:off x="0" y="0"/>
              <a:ext cx="4484481" cy="351614"/>
            </a:xfrm>
            <a:custGeom>
              <a:avLst/>
              <a:gdLst/>
              <a:ahLst/>
              <a:cxnLst/>
              <a:rect l="l" t="t" r="r" b="b"/>
              <a:pathLst>
                <a:path w="4484481" h="351614">
                  <a:moveTo>
                    <a:pt x="0" y="0"/>
                  </a:moveTo>
                  <a:lnTo>
                    <a:pt x="4484481" y="0"/>
                  </a:lnTo>
                  <a:lnTo>
                    <a:pt x="4484481" y="351614"/>
                  </a:lnTo>
                  <a:lnTo>
                    <a:pt x="0" y="351614"/>
                  </a:lnTo>
                  <a:close/>
                </a:path>
              </a:pathLst>
            </a:custGeom>
            <a:solidFill>
              <a:srgbClr val="FFFFFF"/>
            </a:solidFill>
          </p:spPr>
        </p:sp>
        <p:sp>
          <p:nvSpPr>
            <p:cNvPr id="13" name="TextBox 13"/>
            <p:cNvSpPr txBox="1"/>
            <p:nvPr/>
          </p:nvSpPr>
          <p:spPr>
            <a:xfrm>
              <a:off x="0" y="-38100"/>
              <a:ext cx="4484480" cy="389714"/>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616820" y="8203125"/>
            <a:ext cx="16642480" cy="1028701"/>
          </a:xfrm>
          <a:prstGeom prst="rect">
            <a:avLst/>
          </a:prstGeom>
        </p:spPr>
        <p:txBody>
          <a:bodyPr lIns="0" tIns="0" rIns="0" bIns="0" rtlCol="0" anchor="t">
            <a:spAutoFit/>
          </a:bodyPr>
          <a:lstStyle/>
          <a:p>
            <a:pPr marL="647694" lvl="1" indent="-323847" algn="l">
              <a:lnSpc>
                <a:spcPts val="4199"/>
              </a:lnSpc>
              <a:buFont typeface="Arial"/>
              <a:buChar char="•"/>
            </a:pPr>
            <a:r>
              <a:rPr lang="en-US" sz="2999" b="1">
                <a:solidFill>
                  <a:srgbClr val="000000"/>
                </a:solidFill>
                <a:latin typeface="Quicksand Bold"/>
                <a:ea typeface="Quicksand Bold"/>
                <a:cs typeface="Quicksand Bold"/>
                <a:sym typeface="Quicksand Bold"/>
              </a:rPr>
              <a:t>Online Positioning: </a:t>
            </a:r>
            <a:r>
              <a:rPr lang="en-US" sz="2999">
                <a:solidFill>
                  <a:srgbClr val="000000"/>
                </a:solidFill>
                <a:latin typeface="Quicksand"/>
                <a:ea typeface="Quicksand"/>
                <a:cs typeface="Quicksand"/>
                <a:sym typeface="Quicksand"/>
              </a:rPr>
              <a:t>A real-time approach where the UAV moves and adapts its position dynamically based on live measurements rather than pre-planned coordinates.</a:t>
            </a:r>
          </a:p>
        </p:txBody>
      </p:sp>
      <p:grpSp>
        <p:nvGrpSpPr>
          <p:cNvPr id="15" name="Group 15"/>
          <p:cNvGrpSpPr/>
          <p:nvPr/>
        </p:nvGrpSpPr>
        <p:grpSpPr>
          <a:xfrm>
            <a:off x="840657" y="6239440"/>
            <a:ext cx="17027012" cy="1335035"/>
            <a:chOff x="0" y="0"/>
            <a:chExt cx="4484480" cy="351614"/>
          </a:xfrm>
        </p:grpSpPr>
        <p:sp>
          <p:nvSpPr>
            <p:cNvPr id="16" name="Freeform 16"/>
            <p:cNvSpPr/>
            <p:nvPr/>
          </p:nvSpPr>
          <p:spPr>
            <a:xfrm>
              <a:off x="0" y="0"/>
              <a:ext cx="4484481" cy="351614"/>
            </a:xfrm>
            <a:custGeom>
              <a:avLst/>
              <a:gdLst/>
              <a:ahLst/>
              <a:cxnLst/>
              <a:rect l="l" t="t" r="r" b="b"/>
              <a:pathLst>
                <a:path w="4484481" h="351614">
                  <a:moveTo>
                    <a:pt x="0" y="0"/>
                  </a:moveTo>
                  <a:lnTo>
                    <a:pt x="4484481" y="0"/>
                  </a:lnTo>
                  <a:lnTo>
                    <a:pt x="4484481" y="351614"/>
                  </a:lnTo>
                  <a:lnTo>
                    <a:pt x="0" y="351614"/>
                  </a:lnTo>
                  <a:close/>
                </a:path>
              </a:pathLst>
            </a:custGeom>
            <a:solidFill>
              <a:srgbClr val="FFFFFF"/>
            </a:solidFill>
          </p:spPr>
        </p:sp>
        <p:sp>
          <p:nvSpPr>
            <p:cNvPr id="17" name="TextBox 17"/>
            <p:cNvSpPr txBox="1"/>
            <p:nvPr/>
          </p:nvSpPr>
          <p:spPr>
            <a:xfrm>
              <a:off x="0" y="-38100"/>
              <a:ext cx="4484480" cy="389714"/>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616820" y="6310692"/>
            <a:ext cx="16432310" cy="1028701"/>
          </a:xfrm>
          <a:prstGeom prst="rect">
            <a:avLst/>
          </a:prstGeom>
        </p:spPr>
        <p:txBody>
          <a:bodyPr lIns="0" tIns="0" rIns="0" bIns="0" rtlCol="0" anchor="t">
            <a:spAutoFit/>
          </a:bodyPr>
          <a:lstStyle/>
          <a:p>
            <a:pPr marL="647694" lvl="1" indent="-323847" algn="l">
              <a:lnSpc>
                <a:spcPts val="4199"/>
              </a:lnSpc>
              <a:buFont typeface="Arial"/>
              <a:buChar char="•"/>
            </a:pPr>
            <a:r>
              <a:rPr lang="en-US" sz="2999" b="1">
                <a:solidFill>
                  <a:srgbClr val="000000"/>
                </a:solidFill>
                <a:latin typeface="Quicksand Bold"/>
                <a:ea typeface="Quicksand Bold"/>
                <a:cs typeface="Quicksand Bold"/>
                <a:sym typeface="Quicksand Bold"/>
              </a:rPr>
              <a:t>Air-to-Ground (A2G) Channel: </a:t>
            </a:r>
            <a:r>
              <a:rPr lang="en-US" sz="2999">
                <a:solidFill>
                  <a:srgbClr val="000000"/>
                </a:solidFill>
                <a:latin typeface="Quicksand"/>
                <a:ea typeface="Quicksand"/>
                <a:cs typeface="Quicksand"/>
                <a:sym typeface="Quicksand"/>
              </a:rPr>
              <a:t>The wireless link between the UAV and ground users, characterized by a higher probability of Line-of-Sight (LoS) compared to terrestrial links.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621480"/>
            <a:ext cx="7677764" cy="7275471"/>
            <a:chOff x="0" y="0"/>
            <a:chExt cx="2022127" cy="1916174"/>
          </a:xfrm>
        </p:grpSpPr>
        <p:sp>
          <p:nvSpPr>
            <p:cNvPr id="3" name="Freeform 3"/>
            <p:cNvSpPr/>
            <p:nvPr/>
          </p:nvSpPr>
          <p:spPr>
            <a:xfrm>
              <a:off x="0" y="0"/>
              <a:ext cx="2022127" cy="1916174"/>
            </a:xfrm>
            <a:custGeom>
              <a:avLst/>
              <a:gdLst/>
              <a:ahLst/>
              <a:cxnLst/>
              <a:rect l="l" t="t" r="r" b="b"/>
              <a:pathLst>
                <a:path w="2022127" h="1916174">
                  <a:moveTo>
                    <a:pt x="0" y="0"/>
                  </a:moveTo>
                  <a:lnTo>
                    <a:pt x="2022127" y="0"/>
                  </a:lnTo>
                  <a:lnTo>
                    <a:pt x="2022127" y="1916174"/>
                  </a:lnTo>
                  <a:lnTo>
                    <a:pt x="0" y="1916174"/>
                  </a:lnTo>
                  <a:close/>
                </a:path>
              </a:pathLst>
            </a:custGeom>
            <a:solidFill>
              <a:srgbClr val="FFFFFF"/>
            </a:solidFill>
          </p:spPr>
        </p:sp>
        <p:sp>
          <p:nvSpPr>
            <p:cNvPr id="4" name="TextBox 4"/>
            <p:cNvSpPr txBox="1"/>
            <p:nvPr/>
          </p:nvSpPr>
          <p:spPr>
            <a:xfrm>
              <a:off x="0" y="-38100"/>
              <a:ext cx="2022127" cy="195427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448800" y="2621480"/>
            <a:ext cx="7810500" cy="4048125"/>
            <a:chOff x="0" y="0"/>
            <a:chExt cx="2057086" cy="1066173"/>
          </a:xfrm>
        </p:grpSpPr>
        <p:sp>
          <p:nvSpPr>
            <p:cNvPr id="6" name="Freeform 6"/>
            <p:cNvSpPr/>
            <p:nvPr/>
          </p:nvSpPr>
          <p:spPr>
            <a:xfrm>
              <a:off x="0" y="0"/>
              <a:ext cx="2057086" cy="1066173"/>
            </a:xfrm>
            <a:custGeom>
              <a:avLst/>
              <a:gdLst/>
              <a:ahLst/>
              <a:cxnLst/>
              <a:rect l="l" t="t" r="r" b="b"/>
              <a:pathLst>
                <a:path w="2057086" h="1066173">
                  <a:moveTo>
                    <a:pt x="0" y="0"/>
                  </a:moveTo>
                  <a:lnTo>
                    <a:pt x="2057086" y="0"/>
                  </a:lnTo>
                  <a:lnTo>
                    <a:pt x="2057086" y="1066173"/>
                  </a:lnTo>
                  <a:lnTo>
                    <a:pt x="0" y="1066173"/>
                  </a:lnTo>
                  <a:close/>
                </a:path>
              </a:pathLst>
            </a:custGeom>
            <a:solidFill>
              <a:srgbClr val="FFFFFF"/>
            </a:solidFill>
          </p:spPr>
        </p:sp>
        <p:sp>
          <p:nvSpPr>
            <p:cNvPr id="7" name="TextBox 7"/>
            <p:cNvSpPr txBox="1"/>
            <p:nvPr/>
          </p:nvSpPr>
          <p:spPr>
            <a:xfrm>
              <a:off x="0" y="-38100"/>
              <a:ext cx="2057086" cy="1104273"/>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2725400" y="6846586"/>
            <a:ext cx="3841111" cy="3463984"/>
          </a:xfrm>
          <a:custGeom>
            <a:avLst/>
            <a:gdLst/>
            <a:ahLst/>
            <a:cxnLst/>
            <a:rect l="l" t="t" r="r" b="b"/>
            <a:pathLst>
              <a:path w="3841111" h="3463984">
                <a:moveTo>
                  <a:pt x="0" y="0"/>
                </a:moveTo>
                <a:lnTo>
                  <a:pt x="3841111" y="0"/>
                </a:lnTo>
                <a:lnTo>
                  <a:pt x="3841111" y="3463984"/>
                </a:lnTo>
                <a:lnTo>
                  <a:pt x="0" y="34639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1404938" y="914400"/>
            <a:ext cx="15478125" cy="1012190"/>
          </a:xfrm>
          <a:prstGeom prst="rect">
            <a:avLst/>
          </a:prstGeom>
        </p:spPr>
        <p:txBody>
          <a:bodyPr lIns="0" tIns="0" rIns="0" bIns="0" rtlCol="0" anchor="t">
            <a:spAutoFit/>
          </a:bodyPr>
          <a:lstStyle/>
          <a:p>
            <a:pPr algn="ctr">
              <a:lnSpc>
                <a:spcPts val="8260"/>
              </a:lnSpc>
            </a:pPr>
            <a:r>
              <a:rPr lang="en-US" sz="5900">
                <a:solidFill>
                  <a:srgbClr val="FFFFFF"/>
                </a:solidFill>
                <a:latin typeface="Fredoka"/>
                <a:ea typeface="Fredoka"/>
                <a:cs typeface="Fredoka"/>
                <a:sym typeface="Fredoka"/>
              </a:rPr>
              <a:t>OBJECTIVE OF THE RESEARCH PROBLEM</a:t>
            </a:r>
          </a:p>
        </p:txBody>
      </p:sp>
      <p:sp>
        <p:nvSpPr>
          <p:cNvPr id="10" name="TextBox 10"/>
          <p:cNvSpPr txBox="1"/>
          <p:nvPr/>
        </p:nvSpPr>
        <p:spPr>
          <a:xfrm>
            <a:off x="1423029" y="2653681"/>
            <a:ext cx="7021841" cy="1242060"/>
          </a:xfrm>
          <a:prstGeom prst="rect">
            <a:avLst/>
          </a:prstGeom>
        </p:spPr>
        <p:txBody>
          <a:bodyPr lIns="0" tIns="0" rIns="0" bIns="0" rtlCol="0" anchor="t">
            <a:spAutoFit/>
          </a:bodyPr>
          <a:lstStyle/>
          <a:p>
            <a:pPr algn="l">
              <a:lnSpc>
                <a:spcPts val="5040"/>
              </a:lnSpc>
            </a:pPr>
            <a:r>
              <a:rPr lang="en-US" sz="3600" b="1">
                <a:solidFill>
                  <a:srgbClr val="000000"/>
                </a:solidFill>
                <a:latin typeface="Quicksand Bold"/>
                <a:ea typeface="Quicksand Bold"/>
                <a:cs typeface="Quicksand Bold"/>
                <a:sym typeface="Quicksand Bold"/>
              </a:rPr>
              <a:t>The Core Challenge: Positioning for Performance</a:t>
            </a:r>
          </a:p>
        </p:txBody>
      </p:sp>
      <p:sp>
        <p:nvSpPr>
          <p:cNvPr id="11" name="TextBox 11"/>
          <p:cNvSpPr txBox="1"/>
          <p:nvPr/>
        </p:nvSpPr>
        <p:spPr>
          <a:xfrm>
            <a:off x="1423029" y="4248166"/>
            <a:ext cx="7021841" cy="2598420"/>
          </a:xfrm>
          <a:prstGeom prst="rect">
            <a:avLst/>
          </a:prstGeom>
        </p:spPr>
        <p:txBody>
          <a:bodyPr lIns="0" tIns="0" rIns="0" bIns="0" rtlCol="0" anchor="t">
            <a:spAutoFit/>
          </a:bodyPr>
          <a:lstStyle/>
          <a:p>
            <a:pPr marL="0" lvl="0" indent="0" algn="l">
              <a:lnSpc>
                <a:spcPts val="4199"/>
              </a:lnSpc>
              <a:spcBef>
                <a:spcPct val="0"/>
              </a:spcBef>
            </a:pPr>
            <a:r>
              <a:rPr lang="en-US" sz="2799" b="1">
                <a:solidFill>
                  <a:srgbClr val="000000"/>
                </a:solidFill>
                <a:latin typeface="Quicksand Bold"/>
                <a:ea typeface="Quicksand Bold"/>
                <a:cs typeface="Quicksand Bold"/>
                <a:sym typeface="Quicksand Bold"/>
              </a:rPr>
              <a:t>The Deployment Trade-off: </a:t>
            </a:r>
            <a:r>
              <a:rPr lang="en-US" sz="2799">
                <a:solidFill>
                  <a:srgbClr val="000000"/>
                </a:solidFill>
                <a:latin typeface="Quicksand"/>
                <a:ea typeface="Quicksand"/>
                <a:cs typeface="Quicksand"/>
                <a:sym typeface="Quicksand"/>
              </a:rPr>
              <a:t>Determining the optimal 3D position (x, y, z) is difficult because it depends on unknown factors like user distribution and local propagation environments. </a:t>
            </a:r>
          </a:p>
        </p:txBody>
      </p:sp>
      <p:sp>
        <p:nvSpPr>
          <p:cNvPr id="12" name="TextBox 12"/>
          <p:cNvSpPr txBox="1"/>
          <p:nvPr/>
        </p:nvSpPr>
        <p:spPr>
          <a:xfrm>
            <a:off x="9861221" y="2653681"/>
            <a:ext cx="7021841" cy="1242060"/>
          </a:xfrm>
          <a:prstGeom prst="rect">
            <a:avLst/>
          </a:prstGeom>
        </p:spPr>
        <p:txBody>
          <a:bodyPr lIns="0" tIns="0" rIns="0" bIns="0" rtlCol="0" anchor="t">
            <a:spAutoFit/>
          </a:bodyPr>
          <a:lstStyle/>
          <a:p>
            <a:pPr algn="l">
              <a:lnSpc>
                <a:spcPts val="5040"/>
              </a:lnSpc>
            </a:pPr>
            <a:r>
              <a:rPr lang="en-US" sz="3600" b="1">
                <a:solidFill>
                  <a:srgbClr val="000000"/>
                </a:solidFill>
                <a:latin typeface="Quicksand Bold"/>
                <a:ea typeface="Quicksand Bold"/>
                <a:cs typeface="Quicksand Bold"/>
                <a:sym typeface="Quicksand Bold"/>
              </a:rPr>
              <a:t>The Core Challenge: Positioning for Performance</a:t>
            </a:r>
          </a:p>
        </p:txBody>
      </p:sp>
      <p:sp>
        <p:nvSpPr>
          <p:cNvPr id="13" name="TextBox 13"/>
          <p:cNvSpPr txBox="1"/>
          <p:nvPr/>
        </p:nvSpPr>
        <p:spPr>
          <a:xfrm>
            <a:off x="9861221" y="4248166"/>
            <a:ext cx="7021841" cy="2074545"/>
          </a:xfrm>
          <a:prstGeom prst="rect">
            <a:avLst/>
          </a:prstGeom>
        </p:spPr>
        <p:txBody>
          <a:bodyPr lIns="0" tIns="0" rIns="0" bIns="0" rtlCol="0" anchor="t">
            <a:spAutoFit/>
          </a:bodyPr>
          <a:lstStyle/>
          <a:p>
            <a:pPr marL="0" lvl="0" indent="0" algn="l">
              <a:lnSpc>
                <a:spcPts val="4199"/>
              </a:lnSpc>
              <a:spcBef>
                <a:spcPct val="0"/>
              </a:spcBef>
            </a:pPr>
            <a:r>
              <a:rPr lang="en-US" sz="2799" b="1">
                <a:solidFill>
                  <a:srgbClr val="000000"/>
                </a:solidFill>
                <a:latin typeface="Quicksand Bold"/>
                <a:ea typeface="Quicksand Bold"/>
                <a:cs typeface="Quicksand Bold"/>
                <a:sym typeface="Quicksand Bold"/>
              </a:rPr>
              <a:t>Dynamic Adaptation:</a:t>
            </a:r>
            <a:r>
              <a:rPr lang="en-US" sz="2799">
                <a:solidFill>
                  <a:srgbClr val="000000"/>
                </a:solidFill>
                <a:latin typeface="Quicksand"/>
                <a:ea typeface="Quicksand"/>
                <a:cs typeface="Quicksand"/>
                <a:sym typeface="Quicksand"/>
              </a:rPr>
              <a:t> Since users move (User Mobility), the UAV must be able to track the "optimal" position in real-time without manual reconfiguration. </a:t>
            </a:r>
          </a:p>
        </p:txBody>
      </p:sp>
      <p:sp>
        <p:nvSpPr>
          <p:cNvPr id="14" name="TextBox 14"/>
          <p:cNvSpPr txBox="1"/>
          <p:nvPr/>
        </p:nvSpPr>
        <p:spPr>
          <a:xfrm>
            <a:off x="1423029" y="7222055"/>
            <a:ext cx="7021841" cy="2472055"/>
          </a:xfrm>
          <a:prstGeom prst="rect">
            <a:avLst/>
          </a:prstGeom>
        </p:spPr>
        <p:txBody>
          <a:bodyPr lIns="0" tIns="0" rIns="0" bIns="0" rtlCol="0" anchor="t">
            <a:spAutoFit/>
          </a:bodyPr>
          <a:lstStyle/>
          <a:p>
            <a:pPr algn="l">
              <a:lnSpc>
                <a:spcPts val="3919"/>
              </a:lnSpc>
              <a:spcBef>
                <a:spcPct val="0"/>
              </a:spcBef>
            </a:pPr>
            <a:r>
              <a:rPr lang="en-US" sz="2799" b="1">
                <a:solidFill>
                  <a:srgbClr val="000000"/>
                </a:solidFill>
                <a:latin typeface="Quicksand Bold"/>
                <a:ea typeface="Quicksand Bold"/>
                <a:cs typeface="Quicksand Bold"/>
                <a:sym typeface="Quicksand Bold"/>
              </a:rPr>
              <a:t>Capacity vs. Coverage:</a:t>
            </a:r>
            <a:r>
              <a:rPr lang="en-US" sz="2799">
                <a:solidFill>
                  <a:srgbClr val="000000"/>
                </a:solidFill>
                <a:latin typeface="Quicksand"/>
                <a:ea typeface="Quicksand"/>
                <a:cs typeface="Quicksand"/>
                <a:sym typeface="Quicksand"/>
              </a:rPr>
              <a:t> UAVs must decide whether to move toward a traffic hotspot to provide capacity relief or stay near a site failure to patch a coverage hole.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940209" y="3581720"/>
            <a:ext cx="7677764" cy="5676580"/>
            <a:chOff x="0" y="0"/>
            <a:chExt cx="2022127" cy="1495066"/>
          </a:xfrm>
        </p:grpSpPr>
        <p:sp>
          <p:nvSpPr>
            <p:cNvPr id="3" name="Freeform 3"/>
            <p:cNvSpPr/>
            <p:nvPr/>
          </p:nvSpPr>
          <p:spPr>
            <a:xfrm>
              <a:off x="0" y="0"/>
              <a:ext cx="2022127" cy="1495066"/>
            </a:xfrm>
            <a:custGeom>
              <a:avLst/>
              <a:gdLst/>
              <a:ahLst/>
              <a:cxnLst/>
              <a:rect l="l" t="t" r="r" b="b"/>
              <a:pathLst>
                <a:path w="2022127" h="1495066">
                  <a:moveTo>
                    <a:pt x="0" y="0"/>
                  </a:moveTo>
                  <a:lnTo>
                    <a:pt x="2022127" y="0"/>
                  </a:lnTo>
                  <a:lnTo>
                    <a:pt x="2022127" y="1495066"/>
                  </a:lnTo>
                  <a:lnTo>
                    <a:pt x="0" y="1495066"/>
                  </a:lnTo>
                  <a:close/>
                </a:path>
              </a:pathLst>
            </a:custGeom>
            <a:solidFill>
              <a:srgbClr val="FFFFFF"/>
            </a:solidFill>
          </p:spPr>
        </p:sp>
        <p:sp>
          <p:nvSpPr>
            <p:cNvPr id="4" name="TextBox 4"/>
            <p:cNvSpPr txBox="1"/>
            <p:nvPr/>
          </p:nvSpPr>
          <p:spPr>
            <a:xfrm>
              <a:off x="0" y="-38100"/>
              <a:ext cx="2022127" cy="153316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162092" y="3581720"/>
            <a:ext cx="7810500" cy="5676580"/>
            <a:chOff x="0" y="0"/>
            <a:chExt cx="2057086" cy="1495066"/>
          </a:xfrm>
        </p:grpSpPr>
        <p:sp>
          <p:nvSpPr>
            <p:cNvPr id="6" name="Freeform 6"/>
            <p:cNvSpPr/>
            <p:nvPr/>
          </p:nvSpPr>
          <p:spPr>
            <a:xfrm>
              <a:off x="0" y="0"/>
              <a:ext cx="2057086" cy="1495066"/>
            </a:xfrm>
            <a:custGeom>
              <a:avLst/>
              <a:gdLst/>
              <a:ahLst/>
              <a:cxnLst/>
              <a:rect l="l" t="t" r="r" b="b"/>
              <a:pathLst>
                <a:path w="2057086" h="1495066">
                  <a:moveTo>
                    <a:pt x="0" y="0"/>
                  </a:moveTo>
                  <a:lnTo>
                    <a:pt x="2057086" y="0"/>
                  </a:lnTo>
                  <a:lnTo>
                    <a:pt x="2057086" y="1495066"/>
                  </a:lnTo>
                  <a:lnTo>
                    <a:pt x="0" y="1495066"/>
                  </a:lnTo>
                  <a:close/>
                </a:path>
              </a:pathLst>
            </a:custGeom>
            <a:solidFill>
              <a:srgbClr val="FFFFFF"/>
            </a:solidFill>
          </p:spPr>
        </p:sp>
        <p:sp>
          <p:nvSpPr>
            <p:cNvPr id="7" name="TextBox 7"/>
            <p:cNvSpPr txBox="1"/>
            <p:nvPr/>
          </p:nvSpPr>
          <p:spPr>
            <a:xfrm>
              <a:off x="0" y="-38100"/>
              <a:ext cx="2057086" cy="1533166"/>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423029" y="465455"/>
            <a:ext cx="15478125" cy="1012190"/>
          </a:xfrm>
          <a:prstGeom prst="rect">
            <a:avLst/>
          </a:prstGeom>
        </p:spPr>
        <p:txBody>
          <a:bodyPr lIns="0" tIns="0" rIns="0" bIns="0" rtlCol="0" anchor="t">
            <a:spAutoFit/>
          </a:bodyPr>
          <a:lstStyle/>
          <a:p>
            <a:pPr algn="ctr">
              <a:lnSpc>
                <a:spcPts val="8260"/>
              </a:lnSpc>
            </a:pPr>
            <a:r>
              <a:rPr lang="en-US" sz="5900">
                <a:solidFill>
                  <a:srgbClr val="FFFFFF"/>
                </a:solidFill>
                <a:latin typeface="Fredoka"/>
                <a:ea typeface="Fredoka"/>
                <a:cs typeface="Fredoka"/>
                <a:sym typeface="Fredoka"/>
              </a:rPr>
              <a:t>OBJECTIVE OF THE RESEARCH PROBLEM</a:t>
            </a:r>
          </a:p>
        </p:txBody>
      </p:sp>
      <p:sp>
        <p:nvSpPr>
          <p:cNvPr id="9" name="TextBox 9"/>
          <p:cNvSpPr txBox="1"/>
          <p:nvPr/>
        </p:nvSpPr>
        <p:spPr>
          <a:xfrm>
            <a:off x="1028700" y="3784365"/>
            <a:ext cx="7021841" cy="2074545"/>
          </a:xfrm>
          <a:prstGeom prst="rect">
            <a:avLst/>
          </a:prstGeom>
        </p:spPr>
        <p:txBody>
          <a:bodyPr lIns="0" tIns="0" rIns="0" bIns="0" rtlCol="0" anchor="t">
            <a:spAutoFit/>
          </a:bodyPr>
          <a:lstStyle/>
          <a:p>
            <a:pPr marL="0" lvl="0" indent="0" algn="l">
              <a:lnSpc>
                <a:spcPts val="4199"/>
              </a:lnSpc>
              <a:spcBef>
                <a:spcPct val="0"/>
              </a:spcBef>
            </a:pPr>
            <a:r>
              <a:rPr lang="en-US" sz="2799" b="1">
                <a:solidFill>
                  <a:srgbClr val="000000"/>
                </a:solidFill>
                <a:latin typeface="Quicksand Bold"/>
                <a:ea typeface="Quicksand Bold"/>
                <a:cs typeface="Quicksand Bold"/>
                <a:sym typeface="Quicksand Bold"/>
              </a:rPr>
              <a:t>Data-Driven Online Algorithm:</a:t>
            </a:r>
            <a:r>
              <a:rPr lang="en-US" sz="2799">
                <a:solidFill>
                  <a:srgbClr val="000000"/>
                </a:solidFill>
                <a:latin typeface="Quicksand"/>
                <a:ea typeface="Quicksand"/>
                <a:cs typeface="Quicksand"/>
                <a:sym typeface="Quicksand"/>
              </a:rPr>
              <a:t> Develop a real-time algorithm to optimize the position of a drone-mounted base station during network disruptions. </a:t>
            </a:r>
          </a:p>
        </p:txBody>
      </p:sp>
      <p:sp>
        <p:nvSpPr>
          <p:cNvPr id="10" name="TextBox 10"/>
          <p:cNvSpPr txBox="1"/>
          <p:nvPr/>
        </p:nvSpPr>
        <p:spPr>
          <a:xfrm>
            <a:off x="9352399" y="3784365"/>
            <a:ext cx="7021841" cy="2074545"/>
          </a:xfrm>
          <a:prstGeom prst="rect">
            <a:avLst/>
          </a:prstGeom>
        </p:spPr>
        <p:txBody>
          <a:bodyPr lIns="0" tIns="0" rIns="0" bIns="0" rtlCol="0" anchor="t">
            <a:spAutoFit/>
          </a:bodyPr>
          <a:lstStyle/>
          <a:p>
            <a:pPr marL="0" lvl="0" indent="0" algn="l">
              <a:lnSpc>
                <a:spcPts val="4199"/>
              </a:lnSpc>
              <a:spcBef>
                <a:spcPct val="0"/>
              </a:spcBef>
            </a:pPr>
            <a:r>
              <a:rPr lang="en-US" sz="2799" b="1">
                <a:solidFill>
                  <a:srgbClr val="000000"/>
                </a:solidFill>
                <a:latin typeface="Quicksand Bold"/>
                <a:ea typeface="Quicksand Bold"/>
                <a:cs typeface="Quicksand Bold"/>
                <a:sym typeface="Quicksand Bold"/>
              </a:rPr>
              <a:t>Continuous Adaptation: </a:t>
            </a:r>
            <a:r>
              <a:rPr lang="en-US" sz="2799">
                <a:solidFill>
                  <a:srgbClr val="000000"/>
                </a:solidFill>
                <a:latin typeface="Quicksand"/>
                <a:ea typeface="Quicksand"/>
                <a:cs typeface="Quicksand"/>
                <a:sym typeface="Quicksand"/>
              </a:rPr>
              <a:t>Dynamically adjust to a changing environment, including variations in user distribution and moving traffic hotspots.</a:t>
            </a:r>
          </a:p>
        </p:txBody>
      </p:sp>
      <p:sp>
        <p:nvSpPr>
          <p:cNvPr id="11" name="TextBox 11"/>
          <p:cNvSpPr txBox="1"/>
          <p:nvPr/>
        </p:nvSpPr>
        <p:spPr>
          <a:xfrm>
            <a:off x="1028700" y="6314760"/>
            <a:ext cx="7021841" cy="1976755"/>
          </a:xfrm>
          <a:prstGeom prst="rect">
            <a:avLst/>
          </a:prstGeom>
        </p:spPr>
        <p:txBody>
          <a:bodyPr lIns="0" tIns="0" rIns="0" bIns="0" rtlCol="0" anchor="t">
            <a:spAutoFit/>
          </a:bodyPr>
          <a:lstStyle/>
          <a:p>
            <a:pPr algn="l">
              <a:lnSpc>
                <a:spcPts val="3919"/>
              </a:lnSpc>
              <a:spcBef>
                <a:spcPct val="0"/>
              </a:spcBef>
            </a:pPr>
            <a:r>
              <a:rPr lang="en-US" sz="2799" b="1">
                <a:solidFill>
                  <a:srgbClr val="000000"/>
                </a:solidFill>
                <a:latin typeface="Quicksand Bold"/>
                <a:ea typeface="Quicksand Bold"/>
                <a:cs typeface="Quicksand Bold"/>
                <a:sym typeface="Quicksand Bold"/>
              </a:rPr>
              <a:t>Real-Time Metrics: </a:t>
            </a:r>
            <a:r>
              <a:rPr lang="en-US" sz="2799">
                <a:solidFill>
                  <a:srgbClr val="000000"/>
                </a:solidFill>
                <a:latin typeface="Quicksand"/>
                <a:ea typeface="Quicksand"/>
                <a:cs typeface="Quicksand"/>
                <a:sym typeface="Quicksand"/>
              </a:rPr>
              <a:t>Utilize practically measurable network data (like cell load) instead of relying on prior environmental knowledge or pre-deployment training.</a:t>
            </a:r>
          </a:p>
        </p:txBody>
      </p:sp>
      <p:sp>
        <p:nvSpPr>
          <p:cNvPr id="12" name="TextBox 12"/>
          <p:cNvSpPr txBox="1"/>
          <p:nvPr/>
        </p:nvSpPr>
        <p:spPr>
          <a:xfrm>
            <a:off x="1404937" y="2319338"/>
            <a:ext cx="15478125" cy="738507"/>
          </a:xfrm>
          <a:prstGeom prst="rect">
            <a:avLst/>
          </a:prstGeom>
        </p:spPr>
        <p:txBody>
          <a:bodyPr lIns="0" tIns="0" rIns="0" bIns="0" rtlCol="0" anchor="t">
            <a:spAutoFit/>
          </a:bodyPr>
          <a:lstStyle/>
          <a:p>
            <a:pPr algn="ctr">
              <a:lnSpc>
                <a:spcPts val="6019"/>
              </a:lnSpc>
              <a:spcBef>
                <a:spcPct val="0"/>
              </a:spcBef>
            </a:pPr>
            <a:r>
              <a:rPr lang="en-US" sz="4299">
                <a:solidFill>
                  <a:srgbClr val="FFFFFF"/>
                </a:solidFill>
                <a:latin typeface="Varela Round"/>
                <a:ea typeface="Varela Round"/>
                <a:cs typeface="Varela Round"/>
                <a:sym typeface="Varela Round"/>
              </a:rPr>
              <a:t>The Shift Toward Energy-Awareness</a:t>
            </a:r>
          </a:p>
        </p:txBody>
      </p:sp>
      <p:sp>
        <p:nvSpPr>
          <p:cNvPr id="13" name="TextBox 13"/>
          <p:cNvSpPr txBox="1"/>
          <p:nvPr/>
        </p:nvSpPr>
        <p:spPr>
          <a:xfrm>
            <a:off x="9352399" y="6334285"/>
            <a:ext cx="7021841" cy="2074545"/>
          </a:xfrm>
          <a:prstGeom prst="rect">
            <a:avLst/>
          </a:prstGeom>
        </p:spPr>
        <p:txBody>
          <a:bodyPr lIns="0" tIns="0" rIns="0" bIns="0" rtlCol="0" anchor="t">
            <a:spAutoFit/>
          </a:bodyPr>
          <a:lstStyle/>
          <a:p>
            <a:pPr algn="l">
              <a:lnSpc>
                <a:spcPts val="4199"/>
              </a:lnSpc>
            </a:pPr>
            <a:r>
              <a:rPr lang="en-US" sz="2799" b="1">
                <a:solidFill>
                  <a:srgbClr val="000000"/>
                </a:solidFill>
                <a:latin typeface="Quicksand Bold"/>
                <a:ea typeface="Quicksand Bold"/>
                <a:cs typeface="Quicksand Bold"/>
                <a:sym typeface="Quicksand Bold"/>
              </a:rPr>
              <a:t>Performance Optimization:</a:t>
            </a:r>
            <a:r>
              <a:rPr lang="en-US" sz="2799">
                <a:solidFill>
                  <a:srgbClr val="000000"/>
                </a:solidFill>
                <a:latin typeface="Quicksand"/>
                <a:ea typeface="Quicksand"/>
                <a:cs typeface="Quicksand"/>
                <a:sym typeface="Quicksand"/>
              </a:rPr>
              <a:t> Achieve near-optimal Call Success Rate (CSR) to maximize the fraction of successful connections in dynamic scenarios.</a:t>
            </a:r>
          </a:p>
        </p:txBody>
      </p:sp>
    </p:spTree>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462467" y="4027650"/>
            <a:ext cx="17271730" cy="1682810"/>
          </a:xfrm>
          <a:prstGeom prst="rect">
            <a:avLst/>
          </a:prstGeom>
        </p:spPr>
        <p:txBody>
          <a:bodyPr lIns="0" tIns="0" rIns="0" bIns="0" rtlCol="0" anchor="t">
            <a:spAutoFit/>
          </a:bodyPr>
          <a:lstStyle/>
          <a:p>
            <a:pPr algn="ctr">
              <a:lnSpc>
                <a:spcPts val="13719"/>
              </a:lnSpc>
              <a:spcBef>
                <a:spcPct val="0"/>
              </a:spcBef>
            </a:pPr>
            <a:r>
              <a:rPr lang="en-US" sz="9799">
                <a:solidFill>
                  <a:srgbClr val="FFFFFF"/>
                </a:solidFill>
                <a:latin typeface="Varela Round"/>
                <a:ea typeface="Varela Round"/>
                <a:cs typeface="Varela Round"/>
                <a:sym typeface="Varela Round"/>
              </a:rPr>
              <a:t>SIMULATION AND RESULTS</a:t>
            </a:r>
          </a:p>
        </p:txBody>
      </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596483" y="962025"/>
            <a:ext cx="15998629" cy="9133256"/>
          </a:xfrm>
          <a:prstGeom prst="rect">
            <a:avLst/>
          </a:prstGeom>
        </p:spPr>
        <p:txBody>
          <a:bodyPr lIns="0" tIns="0" rIns="0" bIns="0" rtlCol="0" anchor="t">
            <a:spAutoFit/>
          </a:bodyPr>
          <a:lstStyle/>
          <a:p>
            <a:pPr algn="l">
              <a:lnSpc>
                <a:spcPts val="4255"/>
              </a:lnSpc>
            </a:pPr>
            <a:endParaRPr/>
          </a:p>
          <a:p>
            <a:pPr marL="656226" lvl="1" indent="-328113" algn="l">
              <a:lnSpc>
                <a:spcPts val="4255"/>
              </a:lnSpc>
              <a:buFont typeface="Arial"/>
              <a:buChar char="•"/>
            </a:pPr>
            <a:r>
              <a:rPr lang="en-US" sz="3039">
                <a:solidFill>
                  <a:srgbClr val="FFFFFF"/>
                </a:solidFill>
                <a:latin typeface="Varela Round"/>
                <a:ea typeface="Varela Round"/>
                <a:cs typeface="Varela Round"/>
                <a:sym typeface="Varela Round"/>
              </a:rPr>
              <a:t>Network: 12 sites, 3 sectors each (36 cells), hexagonal layout with wraparound</a:t>
            </a:r>
          </a:p>
          <a:p>
            <a:pPr marL="656226" lvl="1" indent="-328113" algn="l">
              <a:lnSpc>
                <a:spcPts val="4255"/>
              </a:lnSpc>
              <a:buFont typeface="Arial"/>
              <a:buChar char="•"/>
            </a:pPr>
            <a:r>
              <a:rPr lang="en-US" sz="3039">
                <a:solidFill>
                  <a:srgbClr val="FFFFFF"/>
                </a:solidFill>
                <a:latin typeface="Varela Round"/>
                <a:ea typeface="Varela Round"/>
                <a:cs typeface="Varela Round"/>
                <a:sym typeface="Varela Round"/>
              </a:rPr>
              <a:t>Environments: Urban (500 m ISD, capacity-limited) &amp; Rural (3500 m ISD, coverage-limited)</a:t>
            </a:r>
          </a:p>
          <a:p>
            <a:pPr marL="656226" lvl="1" indent="-328113" algn="l">
              <a:lnSpc>
                <a:spcPts val="4255"/>
              </a:lnSpc>
              <a:buFont typeface="Arial"/>
              <a:buChar char="•"/>
            </a:pPr>
            <a:r>
              <a:rPr lang="en-US" sz="3039">
                <a:solidFill>
                  <a:srgbClr val="FFFFFF"/>
                </a:solidFill>
                <a:latin typeface="Varela Round"/>
                <a:ea typeface="Varela Round"/>
                <a:cs typeface="Varela Round"/>
                <a:sym typeface="Varela Round"/>
              </a:rPr>
              <a:t>Antenna Model: Directional BS antennas; drone uses simplified antenna with lower transmit power</a:t>
            </a:r>
          </a:p>
          <a:p>
            <a:pPr marL="656226" lvl="1" indent="-328113" algn="l">
              <a:lnSpc>
                <a:spcPts val="4255"/>
              </a:lnSpc>
              <a:buFont typeface="Arial"/>
              <a:buChar char="•"/>
            </a:pPr>
            <a:r>
              <a:rPr lang="en-US" sz="3039">
                <a:solidFill>
                  <a:srgbClr val="FFFFFF"/>
                </a:solidFill>
                <a:latin typeface="Varela Round"/>
                <a:ea typeface="Varela Round"/>
                <a:cs typeface="Varela Round"/>
                <a:sym typeface="Varela Round"/>
              </a:rPr>
              <a:t>Propagation:Separate models for BS–UE and Drone–UE links</a:t>
            </a:r>
          </a:p>
          <a:p>
            <a:pPr marL="656226" lvl="1" indent="-328113" algn="l">
              <a:lnSpc>
                <a:spcPts val="4255"/>
              </a:lnSpc>
              <a:buFont typeface="Arial"/>
              <a:buChar char="•"/>
            </a:pPr>
            <a:r>
              <a:rPr lang="en-US" sz="3039">
                <a:solidFill>
                  <a:srgbClr val="FFFFFF"/>
                </a:solidFill>
                <a:latin typeface="Varela Round"/>
                <a:ea typeface="Varela Round"/>
                <a:cs typeface="Varela Round"/>
                <a:sym typeface="Varela Round"/>
              </a:rPr>
              <a:t>Includes LoS/NLoS conditions</a:t>
            </a:r>
          </a:p>
          <a:p>
            <a:pPr marL="656226" lvl="1" indent="-328113" algn="l">
              <a:lnSpc>
                <a:spcPts val="4255"/>
              </a:lnSpc>
              <a:buFont typeface="Arial"/>
              <a:buChar char="•"/>
            </a:pPr>
            <a:r>
              <a:rPr lang="en-US" sz="3039">
                <a:solidFill>
                  <a:srgbClr val="FFFFFF"/>
                </a:solidFill>
                <a:latin typeface="Varela Round"/>
                <a:ea typeface="Varela Round"/>
                <a:cs typeface="Varela Round"/>
                <a:sym typeface="Varela Round"/>
              </a:rPr>
              <a:t>Uses environment parameters (α, β, γ)</a:t>
            </a:r>
          </a:p>
          <a:p>
            <a:pPr marL="656226" lvl="1" indent="-328113" algn="l">
              <a:lnSpc>
                <a:spcPts val="4255"/>
              </a:lnSpc>
              <a:buFont typeface="Arial"/>
              <a:buChar char="•"/>
            </a:pPr>
            <a:r>
              <a:rPr lang="en-US" sz="3039">
                <a:solidFill>
                  <a:srgbClr val="FFFFFF"/>
                </a:solidFill>
                <a:latin typeface="Varela Round"/>
                <a:ea typeface="Varela Round"/>
                <a:cs typeface="Varela Round"/>
                <a:sym typeface="Varela Round"/>
              </a:rPr>
              <a:t>Shadow fading and minimum coupling loss considered</a:t>
            </a:r>
          </a:p>
          <a:p>
            <a:pPr marL="656226" lvl="1" indent="-328113" algn="l">
              <a:lnSpc>
                <a:spcPts val="4255"/>
              </a:lnSpc>
              <a:buFont typeface="Arial"/>
              <a:buChar char="•"/>
            </a:pPr>
            <a:r>
              <a:rPr lang="en-US" sz="3039">
                <a:solidFill>
                  <a:srgbClr val="FFFFFF"/>
                </a:solidFill>
                <a:latin typeface="Varela Round"/>
                <a:ea typeface="Varela Round"/>
                <a:cs typeface="Varela Round"/>
                <a:sym typeface="Varela Round"/>
              </a:rPr>
              <a:t>Traffic: Random user arrivals with a traffic hotspot (higher load region)</a:t>
            </a:r>
          </a:p>
          <a:p>
            <a:pPr marL="656226" lvl="1" indent="-328113" algn="l">
              <a:lnSpc>
                <a:spcPts val="4255"/>
              </a:lnSpc>
              <a:buFont typeface="Arial"/>
              <a:buChar char="•"/>
            </a:pPr>
            <a:r>
              <a:rPr lang="en-US" sz="3039">
                <a:solidFill>
                  <a:srgbClr val="FFFFFF"/>
                </a:solidFill>
                <a:latin typeface="Varela Round"/>
                <a:ea typeface="Varela Round"/>
                <a:cs typeface="Varela Round"/>
                <a:sym typeface="Varela Round"/>
              </a:rPr>
              <a:t>Static users, fixed minimum data rate</a:t>
            </a:r>
          </a:p>
          <a:p>
            <a:pPr marL="656226" lvl="1" indent="-328113" algn="l">
              <a:lnSpc>
                <a:spcPts val="4255"/>
              </a:lnSpc>
              <a:buFont typeface="Arial"/>
              <a:buChar char="•"/>
            </a:pPr>
            <a:r>
              <a:rPr lang="en-US" sz="3039">
                <a:solidFill>
                  <a:srgbClr val="FFFFFF"/>
                </a:solidFill>
                <a:latin typeface="Varela Round"/>
                <a:ea typeface="Varela Round"/>
                <a:cs typeface="Varela Round"/>
                <a:sym typeface="Varela Round"/>
              </a:rPr>
              <a:t>Resource Management:</a:t>
            </a:r>
          </a:p>
          <a:p>
            <a:pPr marL="656226" lvl="1" indent="-328113" algn="l">
              <a:lnSpc>
                <a:spcPts val="4255"/>
              </a:lnSpc>
              <a:buFont typeface="Arial"/>
              <a:buChar char="•"/>
            </a:pPr>
            <a:r>
              <a:rPr lang="en-US" sz="3039">
                <a:solidFill>
                  <a:srgbClr val="FFFFFF"/>
                </a:solidFill>
                <a:latin typeface="Varela Round"/>
                <a:ea typeface="Varela Round"/>
                <a:cs typeface="Varela Round"/>
                <a:sym typeface="Varela Round"/>
              </a:rPr>
              <a:t>User connects to best signal (with bias)</a:t>
            </a:r>
          </a:p>
          <a:p>
            <a:pPr marL="656226" lvl="1" indent="-328113" algn="l">
              <a:lnSpc>
                <a:spcPts val="4255"/>
              </a:lnSpc>
              <a:buFont typeface="Arial"/>
              <a:buChar char="•"/>
            </a:pPr>
            <a:r>
              <a:rPr lang="en-US" sz="3039">
                <a:solidFill>
                  <a:srgbClr val="FFFFFF"/>
                </a:solidFill>
                <a:latin typeface="Varela Round"/>
                <a:ea typeface="Varela Round"/>
                <a:cs typeface="Varela Round"/>
                <a:sym typeface="Varela Round"/>
              </a:rPr>
              <a:t>Admission control + fair scheduling</a:t>
            </a:r>
          </a:p>
          <a:p>
            <a:pPr marL="656226" lvl="1" indent="-328113" algn="l">
              <a:lnSpc>
                <a:spcPts val="4255"/>
              </a:lnSpc>
              <a:buFont typeface="Arial"/>
              <a:buChar char="•"/>
            </a:pPr>
            <a:r>
              <a:rPr lang="en-US" sz="3039">
                <a:solidFill>
                  <a:srgbClr val="FFFFFF"/>
                </a:solidFill>
                <a:latin typeface="Varela Round"/>
                <a:ea typeface="Varela Round"/>
                <a:cs typeface="Varela Round"/>
                <a:sym typeface="Varela Round"/>
              </a:rPr>
              <a:t>Handover and call drop conditions included</a:t>
            </a:r>
          </a:p>
          <a:p>
            <a:pPr marL="656226" lvl="1" indent="-328113" algn="l">
              <a:lnSpc>
                <a:spcPts val="4255"/>
              </a:lnSpc>
              <a:buFont typeface="Arial"/>
              <a:buChar char="•"/>
            </a:pPr>
            <a:r>
              <a:rPr lang="en-US" sz="3039">
                <a:solidFill>
                  <a:srgbClr val="FFFFFF"/>
                </a:solidFill>
                <a:latin typeface="Varela Round"/>
                <a:ea typeface="Varela Round"/>
                <a:cs typeface="Varela Round"/>
                <a:sym typeface="Varela Round"/>
              </a:rPr>
              <a:t>Performance Metric: Call Success Rate (CSR)</a:t>
            </a:r>
          </a:p>
        </p:txBody>
      </p:sp>
      <p:sp>
        <p:nvSpPr>
          <p:cNvPr id="3" name="TextBox 3"/>
          <p:cNvSpPr txBox="1"/>
          <p:nvPr/>
        </p:nvSpPr>
        <p:spPr>
          <a:xfrm>
            <a:off x="4143838" y="132078"/>
            <a:ext cx="10000325" cy="896622"/>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Varela Round"/>
                <a:ea typeface="Varela Round"/>
                <a:cs typeface="Varela Round"/>
                <a:sym typeface="Varela Round"/>
              </a:rPr>
              <a:t>MODELING ASSUMPTIONS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465026" y="1514158"/>
            <a:ext cx="17310976" cy="8331303"/>
            <a:chOff x="0" y="0"/>
            <a:chExt cx="4559269" cy="2194253"/>
          </a:xfrm>
        </p:grpSpPr>
        <p:sp>
          <p:nvSpPr>
            <p:cNvPr id="3" name="Freeform 3"/>
            <p:cNvSpPr/>
            <p:nvPr/>
          </p:nvSpPr>
          <p:spPr>
            <a:xfrm>
              <a:off x="0" y="0"/>
              <a:ext cx="4559269" cy="2194253"/>
            </a:xfrm>
            <a:custGeom>
              <a:avLst/>
              <a:gdLst/>
              <a:ahLst/>
              <a:cxnLst/>
              <a:rect l="l" t="t" r="r" b="b"/>
              <a:pathLst>
                <a:path w="4559269" h="2194253">
                  <a:moveTo>
                    <a:pt x="0" y="0"/>
                  </a:moveTo>
                  <a:lnTo>
                    <a:pt x="4559269" y="0"/>
                  </a:lnTo>
                  <a:lnTo>
                    <a:pt x="4559269" y="2194253"/>
                  </a:lnTo>
                  <a:lnTo>
                    <a:pt x="0" y="2194253"/>
                  </a:lnTo>
                  <a:close/>
                </a:path>
              </a:pathLst>
            </a:custGeom>
            <a:solidFill>
              <a:srgbClr val="FFFFFF"/>
            </a:solidFill>
          </p:spPr>
        </p:sp>
        <p:sp>
          <p:nvSpPr>
            <p:cNvPr id="4" name="TextBox 4"/>
            <p:cNvSpPr txBox="1"/>
            <p:nvPr/>
          </p:nvSpPr>
          <p:spPr>
            <a:xfrm>
              <a:off x="0" y="-38100"/>
              <a:ext cx="4559269" cy="223235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90299" y="858047"/>
            <a:ext cx="17307402" cy="9258300"/>
          </a:xfrm>
          <a:custGeom>
            <a:avLst/>
            <a:gdLst/>
            <a:ahLst/>
            <a:cxnLst/>
            <a:rect l="l" t="t" r="r" b="b"/>
            <a:pathLst>
              <a:path w="17307402" h="9258300">
                <a:moveTo>
                  <a:pt x="0" y="0"/>
                </a:moveTo>
                <a:lnTo>
                  <a:pt x="17307402" y="0"/>
                </a:lnTo>
                <a:lnTo>
                  <a:pt x="17307402" y="9258300"/>
                </a:lnTo>
                <a:lnTo>
                  <a:pt x="0" y="9258300"/>
                </a:lnTo>
                <a:lnTo>
                  <a:pt x="0" y="0"/>
                </a:lnTo>
                <a:close/>
              </a:path>
            </a:pathLst>
          </a:custGeom>
          <a:blipFill>
            <a:blip r:embed="rId2"/>
            <a:stretch>
              <a:fillRect l="-1276" r="-5177"/>
            </a:stretch>
          </a:blipFill>
        </p:spPr>
      </p:sp>
      <p:sp>
        <p:nvSpPr>
          <p:cNvPr id="6" name="TextBox 6"/>
          <p:cNvSpPr txBox="1"/>
          <p:nvPr/>
        </p:nvSpPr>
        <p:spPr>
          <a:xfrm>
            <a:off x="4631628" y="36990"/>
            <a:ext cx="9024744" cy="821057"/>
          </a:xfrm>
          <a:prstGeom prst="rect">
            <a:avLst/>
          </a:prstGeom>
        </p:spPr>
        <p:txBody>
          <a:bodyPr lIns="0" tIns="0" rIns="0" bIns="0" rtlCol="0" anchor="t">
            <a:spAutoFit/>
          </a:bodyPr>
          <a:lstStyle/>
          <a:p>
            <a:pPr algn="ctr">
              <a:lnSpc>
                <a:spcPts val="6719"/>
              </a:lnSpc>
              <a:spcBef>
                <a:spcPct val="0"/>
              </a:spcBef>
            </a:pPr>
            <a:r>
              <a:rPr lang="en-US" sz="4799">
                <a:solidFill>
                  <a:srgbClr val="FFFFFF"/>
                </a:solidFill>
                <a:latin typeface="Varela Round"/>
                <a:ea typeface="Varela Round"/>
                <a:cs typeface="Varela Round"/>
                <a:sym typeface="Varela Round"/>
              </a:rPr>
              <a:t>SIMULATION PARAMETERES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Freeform 2"/>
          <p:cNvSpPr/>
          <p:nvPr/>
        </p:nvSpPr>
        <p:spPr>
          <a:xfrm>
            <a:off x="1028700" y="1480129"/>
            <a:ext cx="6474028" cy="8188611"/>
          </a:xfrm>
          <a:custGeom>
            <a:avLst/>
            <a:gdLst/>
            <a:ahLst/>
            <a:cxnLst/>
            <a:rect l="l" t="t" r="r" b="b"/>
            <a:pathLst>
              <a:path w="6474028" h="8188611">
                <a:moveTo>
                  <a:pt x="0" y="0"/>
                </a:moveTo>
                <a:lnTo>
                  <a:pt x="6474028" y="0"/>
                </a:lnTo>
                <a:lnTo>
                  <a:pt x="6474028" y="8188611"/>
                </a:lnTo>
                <a:lnTo>
                  <a:pt x="0" y="8188611"/>
                </a:lnTo>
                <a:lnTo>
                  <a:pt x="0" y="0"/>
                </a:lnTo>
                <a:close/>
              </a:path>
            </a:pathLst>
          </a:custGeom>
          <a:blipFill>
            <a:blip r:embed="rId2"/>
            <a:stretch>
              <a:fillRect/>
            </a:stretch>
          </a:blipFill>
        </p:spPr>
      </p:sp>
      <p:sp>
        <p:nvSpPr>
          <p:cNvPr id="3" name="Freeform 3"/>
          <p:cNvSpPr/>
          <p:nvPr/>
        </p:nvSpPr>
        <p:spPr>
          <a:xfrm>
            <a:off x="7919290" y="2594963"/>
            <a:ext cx="9992697" cy="5524053"/>
          </a:xfrm>
          <a:custGeom>
            <a:avLst/>
            <a:gdLst/>
            <a:ahLst/>
            <a:cxnLst/>
            <a:rect l="l" t="t" r="r" b="b"/>
            <a:pathLst>
              <a:path w="9992697" h="5524053">
                <a:moveTo>
                  <a:pt x="0" y="0"/>
                </a:moveTo>
                <a:lnTo>
                  <a:pt x="9992697" y="0"/>
                </a:lnTo>
                <a:lnTo>
                  <a:pt x="9992697" y="5524052"/>
                </a:lnTo>
                <a:lnTo>
                  <a:pt x="0" y="5524052"/>
                </a:lnTo>
                <a:lnTo>
                  <a:pt x="0" y="0"/>
                </a:lnTo>
                <a:close/>
              </a:path>
            </a:pathLst>
          </a:custGeom>
          <a:blipFill>
            <a:blip r:embed="rId3"/>
            <a:stretch>
              <a:fillRect/>
            </a:stretch>
          </a:blipFill>
        </p:spPr>
      </p:sp>
      <p:sp>
        <p:nvSpPr>
          <p:cNvPr id="4" name="TextBox 4"/>
          <p:cNvSpPr txBox="1"/>
          <p:nvPr/>
        </p:nvSpPr>
        <p:spPr>
          <a:xfrm>
            <a:off x="5944898" y="198118"/>
            <a:ext cx="4737735" cy="1009653"/>
          </a:xfrm>
          <a:prstGeom prst="rect">
            <a:avLst/>
          </a:prstGeom>
        </p:spPr>
        <p:txBody>
          <a:bodyPr lIns="0" tIns="0" rIns="0" bIns="0" rtlCol="0" anchor="t">
            <a:spAutoFit/>
          </a:bodyPr>
          <a:lstStyle/>
          <a:p>
            <a:pPr algn="ctr">
              <a:lnSpc>
                <a:spcPts val="8399"/>
              </a:lnSpc>
              <a:spcBef>
                <a:spcPct val="0"/>
              </a:spcBef>
            </a:pPr>
            <a:r>
              <a:rPr lang="en-US" sz="5999">
                <a:solidFill>
                  <a:srgbClr val="FFFFFF"/>
                </a:solidFill>
                <a:latin typeface="Varela Round"/>
                <a:ea typeface="Varela Round"/>
                <a:cs typeface="Varela Round"/>
                <a:sym typeface="Varela Round"/>
              </a:rPr>
              <a:t>ALGORITHM</a:t>
            </a:r>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198465" y="1825226"/>
            <a:ext cx="17449068" cy="7784008"/>
          </a:xfrm>
          <a:prstGeom prst="rect">
            <a:avLst/>
          </a:prstGeom>
        </p:spPr>
        <p:txBody>
          <a:bodyPr lIns="0" tIns="0" rIns="0" bIns="0" rtlCol="0" anchor="t">
            <a:spAutoFit/>
          </a:bodyPr>
          <a:lstStyle/>
          <a:p>
            <a:pPr marL="690906" lvl="1" indent="-345453" algn="l">
              <a:lnSpc>
                <a:spcPts val="4480"/>
              </a:lnSpc>
              <a:buFont typeface="Arial"/>
              <a:buChar char="•"/>
            </a:pPr>
            <a:r>
              <a:rPr lang="en-US" sz="3200">
                <a:solidFill>
                  <a:srgbClr val="FFFFFF"/>
                </a:solidFill>
                <a:latin typeface="Varela Round"/>
                <a:ea typeface="Varela Round"/>
                <a:cs typeface="Varela Round"/>
                <a:sym typeface="Varela Round"/>
              </a:rPr>
              <a:t>The drone’s altitude is fixed at 120 m and the Cell Individual Offset (CIO) is set to 0 dB, based on insights from the base paper indicating minimal impact on overall performance.</a:t>
            </a:r>
          </a:p>
          <a:p>
            <a:pPr marL="734043" lvl="1" indent="-367021" algn="l">
              <a:lnSpc>
                <a:spcPts val="4759"/>
              </a:lnSpc>
              <a:buFont typeface="Arial"/>
              <a:buChar char="•"/>
            </a:pPr>
            <a:r>
              <a:rPr lang="en-US" sz="3399">
                <a:solidFill>
                  <a:srgbClr val="FFFFFF"/>
                </a:solidFill>
                <a:latin typeface="Varela Round"/>
                <a:ea typeface="Varela Round"/>
                <a:cs typeface="Varela Round"/>
                <a:sym typeface="Varela Round"/>
              </a:rPr>
              <a:t>Simulations were conducted for a duration of 90 minutes, averaged over 4 independent runs, compared to the 4-hour simulation window used in the base study.</a:t>
            </a:r>
          </a:p>
          <a:p>
            <a:pPr marL="734043" lvl="1" indent="-367021" algn="l">
              <a:lnSpc>
                <a:spcPts val="4759"/>
              </a:lnSpc>
              <a:buFont typeface="Arial"/>
              <a:buChar char="•"/>
            </a:pPr>
            <a:r>
              <a:rPr lang="en-US" sz="3399">
                <a:solidFill>
                  <a:srgbClr val="FFFFFF"/>
                </a:solidFill>
                <a:latin typeface="Varela Round"/>
                <a:ea typeface="Varela Round"/>
                <a:cs typeface="Varela Round"/>
                <a:sym typeface="Varela Round"/>
              </a:rPr>
              <a:t>To compensate for the shorter simulation duration and to ensure system robustness, higher user arrival rates were considered in both urban and rural scenarios.</a:t>
            </a:r>
          </a:p>
          <a:p>
            <a:pPr marL="734043" lvl="1" indent="-367021" algn="l">
              <a:lnSpc>
                <a:spcPts val="4759"/>
              </a:lnSpc>
              <a:buFont typeface="Arial"/>
              <a:buChar char="•"/>
            </a:pPr>
            <a:r>
              <a:rPr lang="en-US" sz="3399">
                <a:solidFill>
                  <a:srgbClr val="FFFFFF"/>
                </a:solidFill>
                <a:latin typeface="Varela Round"/>
                <a:ea typeface="Varela Round"/>
                <a:cs typeface="Varela Round"/>
                <a:sym typeface="Varela Round"/>
              </a:rPr>
              <a:t>Due to these modified simulation conditions, the obtained results show slight quantitative deviations from the base paper.</a:t>
            </a:r>
          </a:p>
          <a:p>
            <a:pPr marL="734043" lvl="1" indent="-367021" algn="l">
              <a:lnSpc>
                <a:spcPts val="4759"/>
              </a:lnSpc>
              <a:buFont typeface="Arial"/>
              <a:buChar char="•"/>
            </a:pPr>
            <a:r>
              <a:rPr lang="en-US" sz="3399">
                <a:solidFill>
                  <a:srgbClr val="FFFFFF"/>
                </a:solidFill>
                <a:latin typeface="Varela Round"/>
                <a:ea typeface="Varela Round"/>
                <a:cs typeface="Varela Round"/>
                <a:sym typeface="Varela Round"/>
              </a:rPr>
              <a:t>However, the results continue to demonstrate consistent performance trends, validating the effectiveness of the proposed approach.</a:t>
            </a:r>
          </a:p>
          <a:p>
            <a:pPr algn="l">
              <a:lnSpc>
                <a:spcPts val="280"/>
              </a:lnSpc>
              <a:spcBef>
                <a:spcPct val="0"/>
              </a:spcBef>
            </a:pPr>
            <a:endParaRPr lang="en-US" sz="3399">
              <a:solidFill>
                <a:srgbClr val="FFFFFF"/>
              </a:solidFill>
              <a:latin typeface="Varela Round"/>
              <a:ea typeface="Varela Round"/>
              <a:cs typeface="Varela Round"/>
              <a:sym typeface="Varela Round"/>
            </a:endParaRPr>
          </a:p>
        </p:txBody>
      </p:sp>
      <p:sp>
        <p:nvSpPr>
          <p:cNvPr id="3" name="TextBox 3"/>
          <p:cNvSpPr txBox="1"/>
          <p:nvPr/>
        </p:nvSpPr>
        <p:spPr>
          <a:xfrm>
            <a:off x="3048000" y="292786"/>
            <a:ext cx="11259183" cy="1027204"/>
          </a:xfrm>
          <a:prstGeom prst="rect">
            <a:avLst/>
          </a:prstGeom>
        </p:spPr>
        <p:txBody>
          <a:bodyPr wrap="square" lIns="0" tIns="0" rIns="0" bIns="0" rtlCol="0" anchor="t">
            <a:spAutoFit/>
          </a:bodyPr>
          <a:lstStyle/>
          <a:p>
            <a:pPr algn="ctr">
              <a:lnSpc>
                <a:spcPts val="8399"/>
              </a:lnSpc>
              <a:spcBef>
                <a:spcPct val="0"/>
              </a:spcBef>
            </a:pPr>
            <a:r>
              <a:rPr lang="en-US" sz="5999" dirty="0">
                <a:solidFill>
                  <a:srgbClr val="FFFFFF"/>
                </a:solidFill>
                <a:latin typeface="Varela Round"/>
                <a:ea typeface="Varela Round"/>
                <a:cs typeface="Varela Round"/>
                <a:sym typeface="Varela Round"/>
              </a:rPr>
              <a:t>SIMULATION ASSUMPTIONS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Freeform 2"/>
          <p:cNvSpPr/>
          <p:nvPr/>
        </p:nvSpPr>
        <p:spPr>
          <a:xfrm>
            <a:off x="1992564" y="0"/>
            <a:ext cx="13858651" cy="10287000"/>
          </a:xfrm>
          <a:custGeom>
            <a:avLst/>
            <a:gdLst/>
            <a:ahLst/>
            <a:cxnLst/>
            <a:rect l="l" t="t" r="r" b="b"/>
            <a:pathLst>
              <a:path w="13858651" h="10287000">
                <a:moveTo>
                  <a:pt x="0" y="0"/>
                </a:moveTo>
                <a:lnTo>
                  <a:pt x="13858651" y="0"/>
                </a:lnTo>
                <a:lnTo>
                  <a:pt x="13858651" y="10287000"/>
                </a:lnTo>
                <a:lnTo>
                  <a:pt x="0" y="10287000"/>
                </a:lnTo>
                <a:lnTo>
                  <a:pt x="0" y="0"/>
                </a:lnTo>
                <a:close/>
              </a:path>
            </a:pathLst>
          </a:custGeom>
          <a:blipFill>
            <a:blip r:embed="rId2"/>
            <a:stretch>
              <a:fillRect t="-613" b="-258"/>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Freeform 2"/>
          <p:cNvSpPr/>
          <p:nvPr/>
        </p:nvSpPr>
        <p:spPr>
          <a:xfrm>
            <a:off x="2239973" y="0"/>
            <a:ext cx="13808054" cy="10287000"/>
          </a:xfrm>
          <a:custGeom>
            <a:avLst/>
            <a:gdLst/>
            <a:ahLst/>
            <a:cxnLst/>
            <a:rect l="l" t="t" r="r" b="b"/>
            <a:pathLst>
              <a:path w="13808054" h="10287000">
                <a:moveTo>
                  <a:pt x="0" y="0"/>
                </a:moveTo>
                <a:lnTo>
                  <a:pt x="13808054" y="0"/>
                </a:lnTo>
                <a:lnTo>
                  <a:pt x="13808054" y="10287000"/>
                </a:lnTo>
                <a:lnTo>
                  <a:pt x="0" y="10287000"/>
                </a:lnTo>
                <a:lnTo>
                  <a:pt x="0" y="0"/>
                </a:lnTo>
                <a:close/>
              </a:path>
            </a:pathLst>
          </a:custGeom>
          <a:blipFill>
            <a:blip r:embed="rId2"/>
            <a:stretch>
              <a:fillRect/>
            </a:stretch>
          </a:blipFill>
        </p:spPr>
      </p:sp>
    </p:spTree>
  </p:cSld>
  <p:clrMapOvr>
    <a:masterClrMapping/>
  </p:clrMapOvr>
  <p:transition>
    <p:push/>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Freeform 2"/>
          <p:cNvSpPr/>
          <p:nvPr/>
        </p:nvSpPr>
        <p:spPr>
          <a:xfrm>
            <a:off x="0" y="617220"/>
            <a:ext cx="18288000" cy="9052560"/>
          </a:xfrm>
          <a:custGeom>
            <a:avLst/>
            <a:gdLst/>
            <a:ahLst/>
            <a:cxnLst/>
            <a:rect l="l" t="t" r="r" b="b"/>
            <a:pathLst>
              <a:path w="18288000" h="9052560">
                <a:moveTo>
                  <a:pt x="0" y="0"/>
                </a:moveTo>
                <a:lnTo>
                  <a:pt x="18288000" y="0"/>
                </a:lnTo>
                <a:lnTo>
                  <a:pt x="18288000" y="9052560"/>
                </a:lnTo>
                <a:lnTo>
                  <a:pt x="0" y="9052560"/>
                </a:lnTo>
                <a:lnTo>
                  <a:pt x="0" y="0"/>
                </a:lnTo>
                <a:close/>
              </a:path>
            </a:pathLst>
          </a:custGeom>
          <a:blipFill>
            <a:blip r:embed="rId2"/>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Freeform 2"/>
          <p:cNvSpPr/>
          <p:nvPr/>
        </p:nvSpPr>
        <p:spPr>
          <a:xfrm>
            <a:off x="294968" y="0"/>
            <a:ext cx="17698065" cy="10287000"/>
          </a:xfrm>
          <a:custGeom>
            <a:avLst/>
            <a:gdLst/>
            <a:ahLst/>
            <a:cxnLst/>
            <a:rect l="l" t="t" r="r" b="b"/>
            <a:pathLst>
              <a:path w="17698065" h="10287000">
                <a:moveTo>
                  <a:pt x="0" y="0"/>
                </a:moveTo>
                <a:lnTo>
                  <a:pt x="17698064" y="0"/>
                </a:lnTo>
                <a:lnTo>
                  <a:pt x="17698064" y="10287000"/>
                </a:lnTo>
                <a:lnTo>
                  <a:pt x="0" y="10287000"/>
                </a:lnTo>
                <a:lnTo>
                  <a:pt x="0" y="0"/>
                </a:lnTo>
                <a:close/>
              </a:path>
            </a:pathLst>
          </a:custGeom>
          <a:blipFill>
            <a:blip r:embed="rId2"/>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6019800" y="392430"/>
            <a:ext cx="5654804" cy="1312547"/>
          </a:xfrm>
          <a:prstGeom prst="rect">
            <a:avLst/>
          </a:prstGeom>
        </p:spPr>
        <p:txBody>
          <a:bodyPr wrap="square" lIns="0" tIns="0" rIns="0" bIns="0" rtlCol="0" anchor="t">
            <a:spAutoFit/>
          </a:bodyPr>
          <a:lstStyle/>
          <a:p>
            <a:pPr algn="ctr">
              <a:lnSpc>
                <a:spcPts val="10949"/>
              </a:lnSpc>
              <a:spcBef>
                <a:spcPct val="0"/>
              </a:spcBef>
            </a:pPr>
            <a:r>
              <a:rPr lang="en-US" sz="7299" dirty="0">
                <a:solidFill>
                  <a:srgbClr val="FFFFFF"/>
                </a:solidFill>
                <a:latin typeface="Quicksand"/>
                <a:ea typeface="Quicksand"/>
                <a:cs typeface="Quicksand"/>
                <a:sym typeface="Quicksand"/>
              </a:rPr>
              <a:t>LIMITATIONS</a:t>
            </a:r>
          </a:p>
        </p:txBody>
      </p:sp>
      <p:sp>
        <p:nvSpPr>
          <p:cNvPr id="3" name="TextBox 3"/>
          <p:cNvSpPr txBox="1"/>
          <p:nvPr/>
        </p:nvSpPr>
        <p:spPr>
          <a:xfrm>
            <a:off x="514350" y="3238500"/>
            <a:ext cx="17259300" cy="4174669"/>
          </a:xfrm>
          <a:prstGeom prst="rect">
            <a:avLst/>
          </a:prstGeom>
        </p:spPr>
        <p:txBody>
          <a:bodyPr lIns="0" tIns="0" rIns="0" bIns="0" rtlCol="0" anchor="t">
            <a:spAutoFit/>
          </a:bodyPr>
          <a:lstStyle/>
          <a:p>
            <a:pPr algn="ctr">
              <a:lnSpc>
                <a:spcPts val="4668"/>
              </a:lnSpc>
              <a:spcBef>
                <a:spcPct val="0"/>
              </a:spcBef>
            </a:pPr>
            <a:r>
              <a:rPr lang="en-US" sz="3200" dirty="0">
                <a:solidFill>
                  <a:schemeClr val="bg1"/>
                </a:solidFill>
              </a:rPr>
              <a:t>The base paper does not account for energy-related constraints of the UAV, implicitly assuming unlimited battery capacity and neglecting the impact of movement on energy consumption. It focuses solely on optimizing network performance without considering the trade-off between performance gains and the energy cost of repositioning the drone. Continuous movement of the UAV is allowed without any penalty, which is unrealistic given that propulsion is one of the most energy-intensive operations in UAV systems. As a result, the proposed approach may lead to inefficient energy usage and reduced operational feasibility in real-world deployments.</a:t>
            </a:r>
            <a:endParaRPr lang="en-US" sz="3112" dirty="0">
              <a:solidFill>
                <a:schemeClr val="bg1"/>
              </a:solidFill>
              <a:latin typeface="Quicksand"/>
              <a:ea typeface="Quicksand"/>
              <a:cs typeface="Quicksand"/>
              <a:sym typeface="Quicksan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213489" y="3204209"/>
            <a:ext cx="17861022" cy="6054091"/>
          </a:xfrm>
          <a:prstGeom prst="rect">
            <a:avLst/>
          </a:prstGeom>
        </p:spPr>
        <p:txBody>
          <a:bodyPr lIns="0" tIns="0" rIns="0" bIns="0" rtlCol="0" anchor="t">
            <a:spAutoFit/>
          </a:bodyPr>
          <a:lstStyle/>
          <a:p>
            <a:pPr algn="ctr">
              <a:lnSpc>
                <a:spcPts val="5399"/>
              </a:lnSpc>
              <a:spcBef>
                <a:spcPct val="0"/>
              </a:spcBef>
            </a:pPr>
            <a:r>
              <a:rPr lang="en-US" sz="3599">
                <a:solidFill>
                  <a:srgbClr val="FFFFFF"/>
                </a:solidFill>
                <a:latin typeface="Quicksand"/>
                <a:ea typeface="Quicksand"/>
                <a:cs typeface="Quicksand"/>
                <a:sym typeface="Quicksand"/>
              </a:rPr>
              <a:t>The proposed system uses a simplified discrete energy model to enable real-time decision-making. Energy consumption is calculated per time step, where the UAV consumes a fixed amount of energy α when it moves and a smaller amount β when it hovers. This model does not account for factors such as velocity, acceleration, altitude changes, or aerodynamic effects, and focuses only on propulsion energy while ignoring communication-related energy consumption. Although this is a simplified approximation, it significantly reduces computational complexity and allows the UAV to make fast energy-aware positioning decisions in dynamic environments.</a:t>
            </a:r>
          </a:p>
        </p:txBody>
      </p:sp>
      <p:sp>
        <p:nvSpPr>
          <p:cNvPr id="3" name="TextBox 3"/>
          <p:cNvSpPr txBox="1"/>
          <p:nvPr/>
        </p:nvSpPr>
        <p:spPr>
          <a:xfrm>
            <a:off x="2585589" y="838200"/>
            <a:ext cx="11930773" cy="1156339"/>
          </a:xfrm>
          <a:prstGeom prst="rect">
            <a:avLst/>
          </a:prstGeom>
        </p:spPr>
        <p:txBody>
          <a:bodyPr lIns="0" tIns="0" rIns="0" bIns="0" rtlCol="0" anchor="t">
            <a:spAutoFit/>
          </a:bodyPr>
          <a:lstStyle/>
          <a:p>
            <a:pPr algn="ctr">
              <a:lnSpc>
                <a:spcPts val="9599"/>
              </a:lnSpc>
              <a:spcBef>
                <a:spcPct val="0"/>
              </a:spcBef>
            </a:pPr>
            <a:r>
              <a:rPr lang="en-US" sz="6399">
                <a:solidFill>
                  <a:srgbClr val="FFFFFF"/>
                </a:solidFill>
                <a:latin typeface="Quicksand"/>
                <a:ea typeface="Quicksand"/>
                <a:cs typeface="Quicksand"/>
                <a:sym typeface="Quicksand"/>
              </a:rPr>
              <a:t>ENERGY MODEL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Freeform 2"/>
          <p:cNvSpPr/>
          <p:nvPr/>
        </p:nvSpPr>
        <p:spPr>
          <a:xfrm>
            <a:off x="1143943" y="43464"/>
            <a:ext cx="16000114" cy="10200073"/>
          </a:xfrm>
          <a:custGeom>
            <a:avLst/>
            <a:gdLst/>
            <a:ahLst/>
            <a:cxnLst/>
            <a:rect l="l" t="t" r="r" b="b"/>
            <a:pathLst>
              <a:path w="16000114" h="10200073">
                <a:moveTo>
                  <a:pt x="0" y="0"/>
                </a:moveTo>
                <a:lnTo>
                  <a:pt x="16000114" y="0"/>
                </a:lnTo>
                <a:lnTo>
                  <a:pt x="16000114" y="10200072"/>
                </a:lnTo>
                <a:lnTo>
                  <a:pt x="0" y="10200072"/>
                </a:lnTo>
                <a:lnTo>
                  <a:pt x="0" y="0"/>
                </a:lnTo>
                <a:close/>
              </a:path>
            </a:pathLst>
          </a:custGeom>
          <a:blipFill>
            <a:blip r:embed="rId2"/>
            <a:stretch>
              <a:fillRect/>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491019" y="2125349"/>
            <a:ext cx="15247254" cy="7948162"/>
          </a:xfrm>
          <a:prstGeom prst="rect">
            <a:avLst/>
          </a:prstGeom>
        </p:spPr>
        <p:txBody>
          <a:bodyPr lIns="0" tIns="0" rIns="0" bIns="0" rtlCol="0" anchor="t">
            <a:spAutoFit/>
          </a:bodyPr>
          <a:lstStyle/>
          <a:p>
            <a:pPr marL="647561" lvl="1" indent="-323780" algn="l">
              <a:lnSpc>
                <a:spcPts val="4499"/>
              </a:lnSpc>
              <a:buFont typeface="Arial"/>
              <a:buChar char="•"/>
            </a:pPr>
            <a:r>
              <a:rPr lang="en-US" sz="2999">
                <a:solidFill>
                  <a:srgbClr val="FFFFFF"/>
                </a:solidFill>
                <a:latin typeface="Quicksand"/>
                <a:ea typeface="Quicksand"/>
                <a:cs typeface="Quicksand"/>
                <a:sym typeface="Quicksand"/>
              </a:rPr>
              <a:t>Significant Reduction in Movement</a:t>
            </a:r>
          </a:p>
          <a:p>
            <a:pPr marL="1295121" lvl="2" indent="-431707" algn="l">
              <a:lnSpc>
                <a:spcPts val="4499"/>
              </a:lnSpc>
              <a:buFont typeface="Arial"/>
              <a:buChar char="⚬"/>
            </a:pPr>
            <a:r>
              <a:rPr lang="en-US" sz="2999">
                <a:solidFill>
                  <a:srgbClr val="FFFFFF"/>
                </a:solidFill>
                <a:latin typeface="Quicksand"/>
                <a:ea typeface="Quicksand"/>
                <a:cs typeface="Quicksand"/>
                <a:sym typeface="Quicksand"/>
              </a:rPr>
              <a:t>Approximately 425 fewer movement steps on average</a:t>
            </a:r>
          </a:p>
          <a:p>
            <a:pPr marL="1295121" lvl="2" indent="-431707" algn="l">
              <a:lnSpc>
                <a:spcPts val="4499"/>
              </a:lnSpc>
              <a:buFont typeface="Arial"/>
              <a:buChar char="⚬"/>
            </a:pPr>
            <a:r>
              <a:rPr lang="en-US" sz="2999">
                <a:solidFill>
                  <a:srgbClr val="FFFFFF"/>
                </a:solidFill>
                <a:latin typeface="Quicksand"/>
                <a:ea typeface="Quicksand"/>
                <a:cs typeface="Quicksand"/>
                <a:sym typeface="Quicksand"/>
              </a:rPr>
              <a:t>Consistent improvement observed across all 44 scenarios</a:t>
            </a:r>
          </a:p>
          <a:p>
            <a:pPr marL="647561" lvl="1" indent="-323780" algn="l">
              <a:lnSpc>
                <a:spcPts val="4499"/>
              </a:lnSpc>
              <a:buFont typeface="Arial"/>
              <a:buChar char="•"/>
            </a:pPr>
            <a:r>
              <a:rPr lang="en-US" sz="2999">
                <a:solidFill>
                  <a:srgbClr val="FFFFFF"/>
                </a:solidFill>
                <a:latin typeface="Quicksand"/>
                <a:ea typeface="Quicksand"/>
                <a:cs typeface="Quicksand"/>
                <a:sym typeface="Quicksand"/>
              </a:rPr>
              <a:t>Impact on Network Performance (CSR)</a:t>
            </a:r>
          </a:p>
          <a:p>
            <a:pPr marL="1295121" lvl="2" indent="-431707" algn="l">
              <a:lnSpc>
                <a:spcPts val="4499"/>
              </a:lnSpc>
              <a:buFont typeface="Arial"/>
              <a:buChar char="⚬"/>
            </a:pPr>
            <a:r>
              <a:rPr lang="en-US" sz="2999">
                <a:solidFill>
                  <a:srgbClr val="FFFFFF"/>
                </a:solidFill>
                <a:latin typeface="Quicksand"/>
                <a:ea typeface="Quicksand"/>
                <a:cs typeface="Quicksand"/>
                <a:sym typeface="Quicksand"/>
              </a:rPr>
              <a:t>Majority of scenarios exhibit negligible change in CSR</a:t>
            </a:r>
          </a:p>
          <a:p>
            <a:pPr marL="1295121" lvl="2" indent="-431707" algn="l">
              <a:lnSpc>
                <a:spcPts val="4499"/>
              </a:lnSpc>
              <a:buFont typeface="Arial"/>
              <a:buChar char="⚬"/>
            </a:pPr>
            <a:r>
              <a:rPr lang="en-US" sz="2999">
                <a:solidFill>
                  <a:srgbClr val="FFFFFF"/>
                </a:solidFill>
                <a:latin typeface="Quicksand"/>
                <a:ea typeface="Quicksand"/>
                <a:cs typeface="Quicksand"/>
                <a:sym typeface="Quicksand"/>
              </a:rPr>
              <a:t>25 scenarios show improvement in CSR</a:t>
            </a:r>
          </a:p>
          <a:p>
            <a:pPr marL="1295121" lvl="2" indent="-431707" algn="l">
              <a:lnSpc>
                <a:spcPts val="4499"/>
              </a:lnSpc>
              <a:buFont typeface="Arial"/>
              <a:buChar char="⚬"/>
            </a:pPr>
            <a:r>
              <a:rPr lang="en-US" sz="2999">
                <a:solidFill>
                  <a:srgbClr val="FFFFFF"/>
                </a:solidFill>
                <a:latin typeface="Quicksand"/>
                <a:ea typeface="Quicksand"/>
                <a:cs typeface="Quicksand"/>
                <a:sym typeface="Quicksand"/>
              </a:rPr>
              <a:t>Worst-case degradation remains limited (≈ −0.02)</a:t>
            </a:r>
          </a:p>
          <a:p>
            <a:pPr marL="647561" lvl="1" indent="-323780" algn="l">
              <a:lnSpc>
                <a:spcPts val="4499"/>
              </a:lnSpc>
              <a:buFont typeface="Arial"/>
              <a:buChar char="•"/>
            </a:pPr>
            <a:r>
              <a:rPr lang="en-US" sz="2999">
                <a:solidFill>
                  <a:srgbClr val="FFFFFF"/>
                </a:solidFill>
                <a:latin typeface="Quicksand"/>
                <a:ea typeface="Quicksand"/>
                <a:cs typeface="Quicksand"/>
                <a:sym typeface="Quicksand"/>
              </a:rPr>
              <a:t>Performance–Energy Trade-off</a:t>
            </a:r>
          </a:p>
          <a:p>
            <a:pPr marL="1295121" lvl="2" indent="-431707" algn="l">
              <a:lnSpc>
                <a:spcPts val="4499"/>
              </a:lnSpc>
              <a:buFont typeface="Arial"/>
              <a:buChar char="⚬"/>
            </a:pPr>
            <a:r>
              <a:rPr lang="en-US" sz="2999">
                <a:solidFill>
                  <a:srgbClr val="FFFFFF"/>
                </a:solidFill>
                <a:latin typeface="Quicksand"/>
                <a:ea typeface="Quicksand"/>
                <a:cs typeface="Quicksand"/>
                <a:sym typeface="Quicksand"/>
              </a:rPr>
              <a:t>Substantial reduction in movement achieved with minimal performance loss</a:t>
            </a:r>
          </a:p>
          <a:p>
            <a:pPr marL="1295121" lvl="2" indent="-431707" algn="l">
              <a:lnSpc>
                <a:spcPts val="4499"/>
              </a:lnSpc>
              <a:buFont typeface="Arial"/>
              <a:buChar char="⚬"/>
            </a:pPr>
            <a:r>
              <a:rPr lang="en-US" sz="2999">
                <a:solidFill>
                  <a:srgbClr val="FFFFFF"/>
                </a:solidFill>
                <a:latin typeface="Quicksand"/>
                <a:ea typeface="Quicksand"/>
                <a:cs typeface="Quicksand"/>
                <a:sym typeface="Quicksand"/>
              </a:rPr>
              <a:t>In several cases, reduced movement leads to improved stability and better CSR</a:t>
            </a:r>
          </a:p>
          <a:p>
            <a:pPr marL="647561" lvl="1" indent="-323780" algn="l">
              <a:lnSpc>
                <a:spcPts val="4499"/>
              </a:lnSpc>
              <a:buFont typeface="Arial"/>
              <a:buChar char="•"/>
            </a:pPr>
            <a:r>
              <a:rPr lang="en-US" sz="2999">
                <a:solidFill>
                  <a:srgbClr val="FFFFFF"/>
                </a:solidFill>
                <a:latin typeface="Quicksand"/>
                <a:ea typeface="Quicksand"/>
                <a:cs typeface="Quicksand"/>
                <a:sym typeface="Quicksand"/>
              </a:rPr>
              <a:t>Scenario-Specific Behavior</a:t>
            </a:r>
          </a:p>
          <a:p>
            <a:pPr marL="1295121" lvl="2" indent="-431707" algn="l">
              <a:lnSpc>
                <a:spcPts val="4499"/>
              </a:lnSpc>
              <a:buFont typeface="Arial"/>
              <a:buChar char="⚬"/>
            </a:pPr>
            <a:r>
              <a:rPr lang="en-US" sz="2999">
                <a:solidFill>
                  <a:srgbClr val="FFFFFF"/>
                </a:solidFill>
                <a:latin typeface="Quicksand"/>
                <a:ea typeface="Quicksand"/>
                <a:cs typeface="Quicksand"/>
                <a:sym typeface="Quicksand"/>
              </a:rPr>
              <a:t>Urban (DU): Higher variability; slight performance drop in high-saving cases</a:t>
            </a:r>
          </a:p>
          <a:p>
            <a:pPr marL="1295121" lvl="2" indent="-431707" algn="l">
              <a:lnSpc>
                <a:spcPts val="4499"/>
              </a:lnSpc>
              <a:buFont typeface="Arial"/>
              <a:buChar char="⚬"/>
            </a:pPr>
            <a:r>
              <a:rPr lang="en-US" sz="2999">
                <a:solidFill>
                  <a:srgbClr val="FFFFFF"/>
                </a:solidFill>
                <a:latin typeface="Quicksand"/>
                <a:ea typeface="Quicksand"/>
                <a:cs typeface="Quicksand"/>
                <a:sym typeface="Quicksand"/>
              </a:rPr>
              <a:t>Rural (RU): More stable performance; CSR changes remain close to zero</a:t>
            </a:r>
          </a:p>
          <a:p>
            <a:pPr algn="l">
              <a:lnSpc>
                <a:spcPts val="4499"/>
              </a:lnSpc>
            </a:pPr>
            <a:endParaRPr lang="en-US" sz="2999">
              <a:solidFill>
                <a:srgbClr val="FFFFFF"/>
              </a:solidFill>
              <a:latin typeface="Quicksand"/>
              <a:ea typeface="Quicksand"/>
              <a:cs typeface="Quicksand"/>
              <a:sym typeface="Quicksand"/>
            </a:endParaRPr>
          </a:p>
        </p:txBody>
      </p:sp>
      <p:sp>
        <p:nvSpPr>
          <p:cNvPr id="3" name="TextBox 3"/>
          <p:cNvSpPr txBox="1"/>
          <p:nvPr/>
        </p:nvSpPr>
        <p:spPr>
          <a:xfrm>
            <a:off x="4788944" y="510540"/>
            <a:ext cx="9545366" cy="965836"/>
          </a:xfrm>
          <a:prstGeom prst="rect">
            <a:avLst/>
          </a:prstGeom>
        </p:spPr>
        <p:txBody>
          <a:bodyPr lIns="0" tIns="0" rIns="0" bIns="0" rtlCol="0" anchor="t">
            <a:spAutoFit/>
          </a:bodyPr>
          <a:lstStyle/>
          <a:p>
            <a:pPr algn="ctr">
              <a:lnSpc>
                <a:spcPts val="8099"/>
              </a:lnSpc>
              <a:spcBef>
                <a:spcPct val="0"/>
              </a:spcBef>
            </a:pPr>
            <a:r>
              <a:rPr lang="en-US" sz="5399">
                <a:solidFill>
                  <a:srgbClr val="FFFFFF"/>
                </a:solidFill>
                <a:latin typeface="Quicksand"/>
                <a:ea typeface="Quicksand"/>
                <a:cs typeface="Quicksand"/>
                <a:sym typeface="Quicksand"/>
              </a:rPr>
              <a:t>Key Observations &amp; Insights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376885" y="3204449"/>
            <a:ext cx="17534230" cy="5533496"/>
          </a:xfrm>
          <a:prstGeom prst="rect">
            <a:avLst/>
          </a:prstGeom>
        </p:spPr>
        <p:txBody>
          <a:bodyPr lIns="0" tIns="0" rIns="0" bIns="0" rtlCol="0" anchor="t">
            <a:spAutoFit/>
          </a:bodyPr>
          <a:lstStyle/>
          <a:p>
            <a:pPr algn="ctr">
              <a:lnSpc>
                <a:spcPts val="4895"/>
              </a:lnSpc>
              <a:spcBef>
                <a:spcPct val="0"/>
              </a:spcBef>
            </a:pPr>
            <a:r>
              <a:rPr lang="en-US" sz="3263">
                <a:solidFill>
                  <a:srgbClr val="FFFFFF"/>
                </a:solidFill>
                <a:latin typeface="Quicksand"/>
                <a:ea typeface="Quicksand"/>
                <a:cs typeface="Quicksand"/>
                <a:sym typeface="Quicksand"/>
              </a:rPr>
              <a:t>The energy-aware positioning algorithm delivers significant efficiency gains by reducing unnecessary UAV movement while maintaining near-equivalent network performance. In several scenarios, it even achieves improved performance, demonstrating the practical benefits of incorporating energy awareness into real-time positioning decisions. Despite its simplified design, the approach produces meaningful and reliable results, making it suitable for real-world deployment. Furthermore, there is considerable scope for future work, including the integration of more realistic UAV energy and mechanical models, as well as extending the framework to support coordinated multi-UAV networks for enhanced scalability and performance.</a:t>
            </a:r>
          </a:p>
        </p:txBody>
      </p:sp>
      <p:sp>
        <p:nvSpPr>
          <p:cNvPr id="3" name="TextBox 3"/>
          <p:cNvSpPr txBox="1"/>
          <p:nvPr/>
        </p:nvSpPr>
        <p:spPr>
          <a:xfrm>
            <a:off x="3297219" y="838200"/>
            <a:ext cx="11361469" cy="1186816"/>
          </a:xfrm>
          <a:prstGeom prst="rect">
            <a:avLst/>
          </a:prstGeom>
        </p:spPr>
        <p:txBody>
          <a:bodyPr lIns="0" tIns="0" rIns="0" bIns="0" rtlCol="0" anchor="t">
            <a:spAutoFit/>
          </a:bodyPr>
          <a:lstStyle/>
          <a:p>
            <a:pPr algn="ctr">
              <a:lnSpc>
                <a:spcPts val="9899"/>
              </a:lnSpc>
              <a:spcBef>
                <a:spcPct val="0"/>
              </a:spcBef>
            </a:pPr>
            <a:r>
              <a:rPr lang="en-US" sz="6599">
                <a:solidFill>
                  <a:srgbClr val="FFFFFF"/>
                </a:solidFill>
                <a:latin typeface="Quicksand"/>
                <a:ea typeface="Quicksand"/>
                <a:cs typeface="Quicksand"/>
                <a:sym typeface="Quicksand"/>
              </a:rPr>
              <a:t>CONCLUSION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5943600" y="123220"/>
            <a:ext cx="4909100" cy="1177278"/>
          </a:xfrm>
          <a:prstGeom prst="rect">
            <a:avLst/>
          </a:prstGeom>
        </p:spPr>
        <p:txBody>
          <a:bodyPr wrap="square" lIns="0" tIns="0" rIns="0" bIns="0" rtlCol="0" anchor="t">
            <a:spAutoFit/>
          </a:bodyPr>
          <a:lstStyle/>
          <a:p>
            <a:pPr algn="ctr">
              <a:lnSpc>
                <a:spcPts val="9660"/>
              </a:lnSpc>
            </a:pPr>
            <a:r>
              <a:rPr lang="en-US" sz="6900" b="1" dirty="0">
                <a:solidFill>
                  <a:srgbClr val="FFFFFF"/>
                </a:solidFill>
                <a:latin typeface="Canva Sans Bold"/>
                <a:ea typeface="Canva Sans Bold"/>
                <a:cs typeface="Canva Sans Bold"/>
                <a:sym typeface="Canva Sans Bold"/>
              </a:rPr>
              <a:t>References</a:t>
            </a:r>
          </a:p>
        </p:txBody>
      </p:sp>
      <p:sp>
        <p:nvSpPr>
          <p:cNvPr id="3" name="TextBox 3"/>
          <p:cNvSpPr txBox="1"/>
          <p:nvPr/>
        </p:nvSpPr>
        <p:spPr>
          <a:xfrm>
            <a:off x="0" y="2225434"/>
            <a:ext cx="18288000" cy="1855468"/>
          </a:xfrm>
          <a:prstGeom prst="rect">
            <a:avLst/>
          </a:prstGeom>
        </p:spPr>
        <p:txBody>
          <a:bodyPr lIns="0" tIns="0" rIns="0" bIns="0" rtlCol="0" anchor="t">
            <a:spAutoFit/>
          </a:bodyPr>
          <a:lstStyle/>
          <a:p>
            <a:pPr algn="l">
              <a:lnSpc>
                <a:spcPts val="4950"/>
              </a:lnSpc>
              <a:spcBef>
                <a:spcPct val="0"/>
              </a:spcBef>
            </a:pPr>
            <a:r>
              <a:rPr lang="en-US" sz="3300" u="sng" dirty="0">
                <a:solidFill>
                  <a:schemeClr val="bg1"/>
                </a:solidFill>
                <a:latin typeface="Quicksand"/>
                <a:ea typeface="Quicksand"/>
                <a:cs typeface="Quicksand"/>
                <a:sym typeface="Quicksand"/>
                <a:hlinkClick r:id="rId2" tooltip="https://ieeexplore.ieee.org/document/10306324/citations#citations">
                  <a:extLst>
                    <a:ext uri="{A12FA001-AC4F-418D-AE19-62706E023703}">
                      <ahyp:hlinkClr xmlns:ahyp="http://schemas.microsoft.com/office/drawing/2018/hyperlinkcolor" val="tx"/>
                    </a:ext>
                  </a:extLst>
                </a:hlinkClick>
              </a:rPr>
              <a:t>T. R. </a:t>
            </a:r>
            <a:r>
              <a:rPr lang="en-US" sz="3300" u="sng" dirty="0" err="1">
                <a:solidFill>
                  <a:schemeClr val="bg1"/>
                </a:solidFill>
                <a:latin typeface="Quicksand"/>
                <a:ea typeface="Quicksand"/>
                <a:cs typeface="Quicksand"/>
                <a:sym typeface="Quicksand"/>
                <a:hlinkClick r:id="rId2" tooltip="https://ieeexplore.ieee.org/document/10306324/citations#citations">
                  <a:extLst>
                    <a:ext uri="{A12FA001-AC4F-418D-AE19-62706E023703}">
                      <ahyp:hlinkClr xmlns:ahyp="http://schemas.microsoft.com/office/drawing/2018/hyperlinkcolor" val="tx"/>
                    </a:ext>
                  </a:extLst>
                </a:hlinkClick>
              </a:rPr>
              <a:t>Pijnappel</a:t>
            </a:r>
            <a:r>
              <a:rPr lang="en-US" sz="3300" u="sng" dirty="0">
                <a:solidFill>
                  <a:schemeClr val="bg1"/>
                </a:solidFill>
                <a:latin typeface="Quicksand"/>
                <a:ea typeface="Quicksand"/>
                <a:cs typeface="Quicksand"/>
                <a:sym typeface="Quicksand"/>
                <a:hlinkClick r:id="rId2" tooltip="https://ieeexplore.ieee.org/document/10306324/citations#citations">
                  <a:extLst>
                    <a:ext uri="{A12FA001-AC4F-418D-AE19-62706E023703}">
                      <ahyp:hlinkClr xmlns:ahyp="http://schemas.microsoft.com/office/drawing/2018/hyperlinkcolor" val="tx"/>
                    </a:ext>
                  </a:extLst>
                </a:hlinkClick>
              </a:rPr>
              <a:t>, J. L. van den Berg, S. C. Borst and R. </a:t>
            </a:r>
            <a:r>
              <a:rPr lang="en-US" sz="3300" u="sng" dirty="0" err="1">
                <a:solidFill>
                  <a:schemeClr val="bg1"/>
                </a:solidFill>
                <a:latin typeface="Quicksand"/>
                <a:ea typeface="Quicksand"/>
                <a:cs typeface="Quicksand"/>
                <a:sym typeface="Quicksand"/>
                <a:hlinkClick r:id="rId2" tooltip="https://ieeexplore.ieee.org/document/10306324/citations#citations">
                  <a:extLst>
                    <a:ext uri="{A12FA001-AC4F-418D-AE19-62706E023703}">
                      <ahyp:hlinkClr xmlns:ahyp="http://schemas.microsoft.com/office/drawing/2018/hyperlinkcolor" val="tx"/>
                    </a:ext>
                  </a:extLst>
                </a:hlinkClick>
              </a:rPr>
              <a:t>Litjens</a:t>
            </a:r>
            <a:r>
              <a:rPr lang="en-US" sz="3300" u="sng" dirty="0">
                <a:solidFill>
                  <a:schemeClr val="bg1"/>
                </a:solidFill>
                <a:latin typeface="Quicksand"/>
                <a:ea typeface="Quicksand"/>
                <a:cs typeface="Quicksand"/>
                <a:sym typeface="Quicksand"/>
                <a:hlinkClick r:id="rId2" tooltip="https://ieeexplore.ieee.org/document/10306324/citations#citations">
                  <a:extLst>
                    <a:ext uri="{A12FA001-AC4F-418D-AE19-62706E023703}">
                      <ahyp:hlinkClr xmlns:ahyp="http://schemas.microsoft.com/office/drawing/2018/hyperlinkcolor" val="tx"/>
                    </a:ext>
                  </a:extLst>
                </a:hlinkClick>
              </a:rPr>
              <a:t>, "Online Positioning of a Drone-Mounted Base Station in Emergency Scenarios," in IEEE Transactions on Vehicular Technology, vol. 73, no. 4, pp. 5572-5586, April 2024, </a:t>
            </a:r>
            <a:r>
              <a:rPr lang="en-US" sz="3300" u="sng" dirty="0" err="1">
                <a:solidFill>
                  <a:schemeClr val="bg1"/>
                </a:solidFill>
                <a:latin typeface="Quicksand"/>
                <a:ea typeface="Quicksand"/>
                <a:cs typeface="Quicksand"/>
                <a:sym typeface="Quicksand"/>
                <a:hlinkClick r:id="rId2" tooltip="https://ieeexplore.ieee.org/document/10306324/citations#citations">
                  <a:extLst>
                    <a:ext uri="{A12FA001-AC4F-418D-AE19-62706E023703}">
                      <ahyp:hlinkClr xmlns:ahyp="http://schemas.microsoft.com/office/drawing/2018/hyperlinkcolor" val="tx"/>
                    </a:ext>
                  </a:extLst>
                </a:hlinkClick>
              </a:rPr>
              <a:t>doi</a:t>
            </a:r>
            <a:r>
              <a:rPr lang="en-US" sz="3300" u="sng" dirty="0">
                <a:solidFill>
                  <a:schemeClr val="bg1"/>
                </a:solidFill>
                <a:latin typeface="Quicksand"/>
                <a:ea typeface="Quicksand"/>
                <a:cs typeface="Quicksand"/>
                <a:sym typeface="Quicksand"/>
                <a:hlinkClick r:id="rId2" tooltip="https://ieeexplore.ieee.org/document/10306324/citations#citations">
                  <a:extLst>
                    <a:ext uri="{A12FA001-AC4F-418D-AE19-62706E023703}">
                      <ahyp:hlinkClr xmlns:ahyp="http://schemas.microsoft.com/office/drawing/2018/hyperlinkcolor" val="tx"/>
                    </a:ext>
                  </a:extLst>
                </a:hlinkClick>
              </a:rPr>
              <a:t>: 10.1109/TVT.2023.3329960</a:t>
            </a:r>
          </a:p>
        </p:txBody>
      </p:sp>
      <p:sp>
        <p:nvSpPr>
          <p:cNvPr id="4" name="TextBox 4"/>
          <p:cNvSpPr txBox="1"/>
          <p:nvPr/>
        </p:nvSpPr>
        <p:spPr>
          <a:xfrm>
            <a:off x="171133" y="5280683"/>
            <a:ext cx="9867781" cy="1223668"/>
          </a:xfrm>
          <a:prstGeom prst="rect">
            <a:avLst/>
          </a:prstGeom>
        </p:spPr>
        <p:txBody>
          <a:bodyPr lIns="0" tIns="0" rIns="0" bIns="0" rtlCol="0" anchor="t">
            <a:spAutoFit/>
          </a:bodyPr>
          <a:lstStyle/>
          <a:p>
            <a:pPr algn="l">
              <a:lnSpc>
                <a:spcPts val="4950"/>
              </a:lnSpc>
              <a:spcBef>
                <a:spcPct val="0"/>
              </a:spcBef>
            </a:pPr>
            <a:r>
              <a:rPr lang="en-US" sz="3300" u="sng" dirty="0">
                <a:solidFill>
                  <a:schemeClr val="bg1"/>
                </a:solidFill>
                <a:latin typeface="Quicksand"/>
                <a:ea typeface="Quicksand"/>
                <a:cs typeface="Quicksand"/>
                <a:sym typeface="Quicksand"/>
                <a:hlinkClick r:id="rId3" tooltip="https://arxiv.org/pdf/2007.12284v1">
                  <a:extLst>
                    <a:ext uri="{A12FA001-AC4F-418D-AE19-62706E023703}">
                      <ahyp:hlinkClr xmlns:ahyp="http://schemas.microsoft.com/office/drawing/2018/hyperlinkcolor" val="tx"/>
                    </a:ext>
                  </a:extLst>
                </a:hlinkClick>
              </a:rPr>
              <a:t>Energy-aware Relay Positioning in Flying Networks</a:t>
            </a:r>
          </a:p>
        </p:txBody>
      </p:sp>
      <p:sp>
        <p:nvSpPr>
          <p:cNvPr id="5" name="TextBox 5"/>
          <p:cNvSpPr txBox="1"/>
          <p:nvPr/>
        </p:nvSpPr>
        <p:spPr>
          <a:xfrm>
            <a:off x="171133" y="7728723"/>
            <a:ext cx="17956641" cy="598168"/>
          </a:xfrm>
          <a:prstGeom prst="rect">
            <a:avLst/>
          </a:prstGeom>
        </p:spPr>
        <p:txBody>
          <a:bodyPr lIns="0" tIns="0" rIns="0" bIns="0" rtlCol="0" anchor="t">
            <a:spAutoFit/>
          </a:bodyPr>
          <a:lstStyle/>
          <a:p>
            <a:pPr algn="l">
              <a:lnSpc>
                <a:spcPts val="4950"/>
              </a:lnSpc>
              <a:spcBef>
                <a:spcPct val="0"/>
              </a:spcBef>
            </a:pPr>
            <a:r>
              <a:rPr lang="en-US" sz="3300" u="sng" dirty="0">
                <a:solidFill>
                  <a:srgbClr val="FFFFFF"/>
                </a:solidFill>
                <a:latin typeface="Quicksand"/>
                <a:ea typeface="Quicksand"/>
                <a:cs typeface="Quicksand"/>
                <a:sym typeface="Quicksand"/>
              </a:rPr>
              <a:t>A survey on UAV assisted wireless communications: Recent advances and future trends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2371828" y="3588359"/>
            <a:ext cx="13544344" cy="2795957"/>
          </a:xfrm>
          <a:prstGeom prst="rect">
            <a:avLst/>
          </a:prstGeom>
        </p:spPr>
        <p:txBody>
          <a:bodyPr lIns="0" tIns="0" rIns="0" bIns="0" rtlCol="0" anchor="t">
            <a:spAutoFit/>
          </a:bodyPr>
          <a:lstStyle/>
          <a:p>
            <a:pPr algn="ctr">
              <a:lnSpc>
                <a:spcPts val="22817"/>
              </a:lnSpc>
              <a:spcBef>
                <a:spcPct val="0"/>
              </a:spcBef>
            </a:pPr>
            <a:r>
              <a:rPr lang="en-US" sz="16297">
                <a:solidFill>
                  <a:srgbClr val="FFFFFF"/>
                </a:solidFill>
                <a:latin typeface="Varela Round"/>
                <a:ea typeface="Varela Round"/>
                <a:cs typeface="Varela Round"/>
                <a:sym typeface="Varela Roun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1316</Words>
  <Application>Microsoft Office PowerPoint</Application>
  <PresentationFormat>Custom</PresentationFormat>
  <Paragraphs>82</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Calibri</vt:lpstr>
      <vt:lpstr>Arial</vt:lpstr>
      <vt:lpstr>Quicksand</vt:lpstr>
      <vt:lpstr>Quicksand Bold</vt:lpstr>
      <vt:lpstr>Varela Round</vt:lpstr>
      <vt:lpstr>Canva Sans Bold</vt:lpstr>
      <vt:lpstr>Fredoka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Wireless Communication</dc:title>
  <cp:lastModifiedBy>VINIT BAGAL</cp:lastModifiedBy>
  <cp:revision>3</cp:revision>
  <dcterms:created xsi:type="dcterms:W3CDTF">2006-08-16T00:00:00Z</dcterms:created>
  <dcterms:modified xsi:type="dcterms:W3CDTF">2026-04-29T05:12:49Z</dcterms:modified>
  <dc:identifier>DAHIKJefLuQ</dc:identifier>
</cp:coreProperties>
</file>